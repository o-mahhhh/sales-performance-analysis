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2" r:id="rId5"/>
    <p:sldId id="263" r:id="rId6"/>
    <p:sldId id="264" r:id="rId7"/>
    <p:sldId id="266" r:id="rId8"/>
    <p:sldId id="265" r:id="rId9"/>
    <p:sldId id="267" r:id="rId10"/>
    <p:sldId id="268" r:id="rId11"/>
    <p:sldId id="269" r:id="rId12"/>
    <p:sldId id="271" r:id="rId13"/>
    <p:sldId id="272" r:id="rId14"/>
    <p:sldId id="274" r:id="rId15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MKAN%20DATA%20ANALYSIS\CLEANED%20DATA%20SETS\SALES%20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MKAN%20DATA%20ANALYSIS\CLEANED%20DATA%20SETS\SALES%20DAT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User\Desktop\MKAN%20DATA%20ANALYSIS\CLEANED%20DATA%20SETS\SALES%20DATA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MODEL!$D$20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</c:spPr>
          <c:dPt>
            <c:idx val="0"/>
            <c:bubble3D val="0"/>
            <c:spPr>
              <a:solidFill>
                <a:srgbClr val="00206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A4A-4CD3-B8CB-6509FB1625F6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A4A-4CD3-B8CB-6509FB1625F6}"/>
              </c:ext>
            </c:extLst>
          </c:dPt>
          <c:dPt>
            <c:idx val="2"/>
            <c:bubble3D val="0"/>
            <c:spPr>
              <a:solidFill>
                <a:srgbClr val="00206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A4A-4CD3-B8CB-6509FB1625F6}"/>
              </c:ext>
            </c:extLst>
          </c:dPt>
          <c:val>
            <c:numRef>
              <c:f>MODEL!$E$20:$G$20</c:f>
              <c:numCache>
                <c:formatCode>0.0</c:formatCode>
                <c:ptCount val="3"/>
                <c:pt idx="0" formatCode="0">
                  <c:v>766</c:v>
                </c:pt>
                <c:pt idx="1">
                  <c:v>76.600000000000023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A4A-4CD3-B8CB-6509FB1625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MODEL!$D$21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chemeClr val="tx1"/>
            </a:solidFill>
          </c:spPr>
          <c:dPt>
            <c:idx val="0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B3A-4973-B044-0D8B3506BDFA}"/>
              </c:ext>
            </c:extLst>
          </c:dPt>
          <c:dPt>
            <c:idx val="1"/>
            <c:bubble3D val="0"/>
            <c:spPr>
              <a:solidFill>
                <a:schemeClr val="bg1">
                  <a:lumMod val="75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B3A-4973-B044-0D8B3506BDFA}"/>
              </c:ext>
            </c:extLst>
          </c:dPt>
          <c:val>
            <c:numRef>
              <c:f>MODEL!$E$21:$F$21</c:f>
              <c:numCache>
                <c:formatCode>0.0</c:formatCode>
                <c:ptCount val="2"/>
                <c:pt idx="0" formatCode="General">
                  <c:v>725</c:v>
                </c:pt>
                <c:pt idx="1">
                  <c:v>117.60000000000002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B3A-4973-B044-0D8B3506BD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NG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MODEL!$D$10:$D$15</cx:f>
        <cx:nf>MODEL!$D$9</cx:nf>
        <cx:lvl ptCount="6" name="BRANCHES">
          <cx:pt idx="0">Lagos</cx:pt>
          <cx:pt idx="1">Osun</cx:pt>
          <cx:pt idx="2">Ogun</cx:pt>
          <cx:pt idx="3">Oyo</cx:pt>
          <cx:pt idx="4">Ondo</cx:pt>
          <cx:pt idx="5">Ekiti</cx:pt>
        </cx:lvl>
      </cx:strDim>
      <cx:numDim type="colorVal">
        <cx:f>MODEL!$E$10:$E$15</cx:f>
        <cx:nf>MODEL!$E$9</cx:nf>
        <cx:lvl ptCount="6" formatCode="General" name="SALES">
          <cx:pt idx="0">361</cx:pt>
          <cx:pt idx="1">337</cx:pt>
          <cx:pt idx="2">336</cx:pt>
          <cx:pt idx="3">224</cx:pt>
          <cx:pt idx="4">216</cx:pt>
          <cx:pt idx="5">17</cx:pt>
        </cx:lvl>
      </cx:numDim>
    </cx:data>
  </cx:chartData>
  <cx:chart>
    <cx:plotArea>
      <cx:plotAreaRegion>
        <cx:series layoutId="regionMap" uniqueId="{33796380-096B-4540-9846-DF569152EC82}">
          <cx:tx>
            <cx:txData>
              <cx:f>MODEL!$E$9</cx:f>
              <cx:v>SALES</cx:v>
            </cx:txData>
          </cx:tx>
          <cx:dataLabels>
            <cx:visibility seriesName="0" categoryName="0" value="1"/>
          </cx:dataLabels>
          <cx:dataId val="0"/>
          <cx:layoutPr>
            <cx:regionLabelLayout val="none"/>
            <cx:geography viewedRegionType="dataOnly" cultureLanguage="en-US" cultureRegion="NG" attribution="Powered by Bing">
              <cx:geoCache provider="{E9337A44-BEBE-4D9F-B70C-5C5E7DAFC167}">
                <cx:binary>5HvZct04EuWvOPw8VAHE3tHVDyDv1S5Z3uUXhizJJAiQ4AJw+/rJ660sd1XNVEdPxNSMHmTdC4IE
kciTJ0+m/3m//OPePd4Nz5bGteM/7pdfn1chdP/45Zfxvnps7sajxtwPfvSfwtG9b37xnz6Z+8df
Hoa72bTlLynC9Jf76m4Ij8vzf/0T7lY++gt/fxeMb2/i47C+fByjC+OfjP3u0LO7h8a0uRnDYO4D
/vX5dRnb588e22DC+nrtHn99/uSK589++fk+//bMZw6WFeIDzOVHSkjJhJLqy498/sz5tvw6TI4o
kSpVJEVfftJvj766a2D6YTHPXoW78Pjt+99b0ucF3T08DI/jCO/z+d+nc5+8wtOhex/bcNi+Enby
1+dXpnwczN3zZ2b02ZehzB/e5Or486v/8nTr//XPn76Azfjpmx+s8/PO/a+G/s04F3elH/9sK/6q
dVjKFSKYfrWO+sk6TAiKEP02DMb7cjC+WOfzav5T8zyZ/JN9noz9rQx03T74b5v0e0f1r9lHHKEU
KS4p+V37sCPEuKBC4a/eQ749+qv3wGL+U/McXuTb3J+s8+PQ38s4438T2sQRo5Iiyr9B21PnoUcU
oI8gyb/ajv9kHFjMtw3+Y7T9A2j7Ye7Pxvlh6O9lnPW/6DjyKMUMpwz9HG4Yp6lUEv9ki/X7Wf/L
pvht6s+W+G3kb2WInTXBfNuf/waGCQIugoT6ClL0SYxhR6kgkqTy6yj6yTSfV/Of+smTyT+Z58nY
/9UG+qPF/XhUn1zzFzmaOuKw+QRCyVcbsCcWEkcHABNYfhsGA/7IAr4zpj9ez++j2PeJTxb/f5yC
/TE9+05k87twt/vMgH9gaH8++o3a/TT1CZF+8p7fNvH04dfnWMCWf+fVh1v82Q5/n/F4NwaYTI+4
EJgpghSRIkXi+bP58TCSwgBEIKWwOFA4AMTnz1o/hAomkSOg5ZworBAHB0wBKEcfD0MUPBIdQFIB
sQCjw6xvL/fCu7X07fed+Pr5WRubF960YQTCn4IDd1+uOyxUEETSlDIIk5JhJISE5XX3dy8hq4HL
8f8QbkxpHQvtptp0y/GKltppknqkTjeHVnnVibI1epmMrS5jECHkJLhhPK3LRdps6HjLsyXlw2sR
WzPmnZ3L+Vp5VpU6YaZPjS5jj+RZF3BbK03TNHUeZlhEcjx2W6X7BiVmb1Mx1CdipTXLOlR7fknb
cUYZvHLidWmKmWvJx3XZKVzJIVsS7FvNCaaLHp23QcfRkkvKquTDlhjOdB9n5DRjYr2koyo/2NqQ
OiNNuk5Zy5sOa9/QYtZ0tsZpK0vRndAkVI2mdm62rC7S2mRkrtWQr3wJva5qMQcdTNWTPZm45zuO
TOezpLd8PaEtde+VsOkVrajHu1C68nrYgrqrsGTvfRnkQ1ekasjGlUWjq2GcrF5jxPx9kcIj35W4
D0zXdF6ayzV1qjmbJ+sm3fq0EHlkiMpT6trVvyJbzUO+dduc7qzY1JiJTshth6aqqHTNonzr/Ujw
K+aruF2yeogXihdyAeslrmu1GeN25vqiH6/HsUDuNK2jDLrjqT1POVmC9uO8vG/LQsZ9r2Q1j3pa
2uKtr+qJ7meVVM3JWFQD0SXva7Lrzdh/HNbWY731UtxXvC2qDKUrfTs3LNwiExK2w86G4yj7rs+q
rpX3Y+H9kNezmcfjYbNszhBuPNWtZA3SUpbDec1YMmvM48r2Q83FmllqRqfRyieh4fATkS0YlnXM
Rr5MeujjeBJ8kjxUU2JmvczGnONirF4mwYyfMKVvgik7q6sRozRzQXaddrU0r+LsWwMbZPu9c3gh
WbINQ6L5lpJ3qV8s1paiZtViZexlpFOd6qmOqMxM5bZOT46rRBfpPKY6LM3yfmk5QdnSx/Y+DYkZ
MkkCbvTG2XbTO85gbRibZp8SL1vt2mmzGVFoeKzSprgv5qa9FoTijwZttduPpV9mHUXfTjmfCmbh
t5k/SJ6mvUYRpcNxgYrYabMq4nVc2u2OJqy7ngiLpe77Ydm0nbwMORoKprSser/pKjW1P0vDQEZt
UOpNVrKRzBoV84p0aja8vXe2LO6bGVNx3DU+bc+ZjGUHR7fpxldtmdIqF4UyRk8htS9wzdKXxdrZ
C5xsocirwaKHvp/SbV8avjR6nGr5vmYlvwk8qPdeCNfqqcPCnHpHgj+tZtdc984jqxuXFhRcTtRd
poIsH9NxRaVmQy8RDM5bmo29XBvNiJ/LrFgW92auykoBiFVbfFN7V97G+mAf5WpD9RqwRDlfZwC9
xbgUa8cX73RFZA/whMv+Usm6eYNSeNquEPX6dltnUl1PzThwOIc82pfDQociJyjhNi/kVp7QtOrn
Y55yFnblwBe3Y/U8rFnsPS1zkrgGHKrnA9Ktoc5oVTTlqG0UKtWJiqTLaYubJu+mukJ7QOcq6tLb
w9spk/g8oX7q4X0nczkmKaHaY66sxpvsilwOpOD7VSTTbYKEv21on0Y9z0k36aRPyzkPiyGbdlGu
Nfwuw6K5GPm1G9v54yjDcN4t5eZ0qVgbtF27pctHTslLOLAL3q1F45QuKa3mnVl77nLDVIryDhyu
1YRsYc4KGkmbrVzW806IrquuiwpVp4ONdtNbKsqXpm+moJdii/s27QGTewomkKtLGt2U/dhcFhtv
/XloXN3ofq3LuKMQfaK2G6ubvSyaoHa8aNoPRvZwKKIplzYLvRIvxyIpNs06XvHcBYh0cKwXc2sM
MjEbxhbJXIGrvaaUh1FvBfFnRZPicWdLyeqspF0RNKApQhpiRhz02qdM6pA0oQQndUmfu9KbUfs6
bd6asSraXATEsO7h15qhBXVvU+NVkg3RwuGbDGqrzLUNu61CZcvM+cLkA6+3atfjruo0BnHnYVEG
9RqifH0rWcFRe0rnkc3z24I34NCaVwN+mEPTXsVtM1aneBOnbLTNdFyY1H6ql9RdsYWzN2litlsX
0+G+SgALs9V7/oDHmBR69Qi9XXytVk3GwX+iJauOl034c4e37YPBabxUBe69rgpPlO76evB53ztj
M9N7/HING37HWV1WuhHeKj3D7PdFT2avqUq3l9Yk2yebhOkMC4CBbDA0HM+u3mJWTUJd07Qxq64R
wkxPQ9pXGvWVn3SoJnzKooAzE2fLARrBaYwu4jwRcJSJv7Zlgmxmh0JM2hU09Htal13M6TLMjZ6Y
RZeV66v7cUms1EvfEZox51Z5U5INu2w0nJCrEbTeMktKOa9WL3XbKAwxfjLkzioUKpi4BRzP57Rs
lhfb1rCl0ymfo7woFZ7sBS+TqYbIsmxF+5o7E2w+y5rCGbBiKU6iTQY0a1U2CJ+uCXPoZlh7iTNB
B9fkSHDV5paT7lL6XrrzNlR80GKr8b2Q5Tw/4HUt+wvvCpfkgMANIJNT0eTrbAtymLlumVsr8rF0
ST1nBK3NWAAU0SLkfTRFkW9LQMXpGNdYveNbSOhuTMa2fh3WqfW5K2pUnxRmLrnRHFAeZw1bYWNU
SFcw+zZOxYdI6Uh2aG4VPfHRS+H1pNxEJQCXU327Hxib0GNvAcZ0AkkjOl55ncxbPilGw6yZbKi8
UCYU66egFmSvRgCIYR9II4dLY0s/XBbI1uq0UhZvbNcAt1jmfEMtcvtq7qI4L21NyoxupS8v0om6
8qMfkkHlVVgQmKlmTcgMLWChaRWL+WQpIiWLbpaS0Ie4hOjOSjut9oVgCm3ZAEQ6OW7HPqCzolun
PkMrnN0T1yc93/dosy6DY+pJRjZu8NsRbak5LnsBJBgOMlveyKlupW4Zm02v67Tvxa2aMX6/FMmS
HjcyFp9QlIQft7bmK6CEXVPdFAjVOt3gMOdhamLYy34S4aR1g11PYc9tzFY0mTHjQ92H6xqAx51X
dRofEyDQl3IpxAfRrkjssVyt2eNhHNNjIie17ubWtGm2CVxsmWe8ZPm2CSNh0yZ/1ckxIbs1YtRl
nrOyvEjgxVwmEoJXLYFkL3roRP8RMMHEPZtGCUcdI0OzksyTvA4igptj6YjfUaAdPbC1WBKI72kf
d5xL9KknyAJ3V6YF/m23nux4TPtU+7ayRc6xWBxwkCm4YyAIdNA9W8DfCsUA9TqIm2+oMgr+JLR/
7Smw6X1cRWDZMM90zJoCL3zXCVO/7Ia1+tSmvLaZm3hstFroeh66oun1CJQ65L4VtNR+GKPXY89n
pQfVcHmGqxK2eBCoepfgTnRZ5KVFWSBD3WQtixaoSm9R9YLEoYynLfNmAXq7Rn9OZ9fXeq2K1Wfb
nNTtiZp9JzLb1hvVU4y2veyXgVfaO9mn51b51cHmDUm1m6KYTFZ7PCd5gsAKWlTcsh31m6wyCzdz
OYp9VWSBDnbUdbe2MSvncRX5XFfzqtGo5vsp2Ryw6LHyj2VnnNr1RdvXHzvX0XXI+zKB5GIdTbfl
G8ej37Lei0nGjJSBD1b7KcSl1xsTHZ72kHYo5nLBypQVul1IUuzWlYQ0a/pxUm84BNFiv7WhHq7E
0Cz1O8HmJRZZI1w/+Yy2NRnfAPWsCRCEoWvClv1Yi3mSld77bh1MWX2thH3/+K/Lb+W1z/WZ374/
1NJ++3TdPbavwvD4GC7vup+vPCgH3y/9rdBzyNe/V31+yv+/VOW+5c9/ZfCJcvBEu3qiHHAM7JsS
9Gf6wY+C/ReR5rOE8NvUL0ICP4JSDwatR2IQ7CgjkMl/ERLoESgEAvQfDpWiFDQDkLq/CgniSDCU
UgVJAOhHAHagDn0VEhhIDIrB7SDqIriAkL8iJBxkgh9khBTUCC7TVFJ+EDpAsXoqIyQjtYu1Nosh
uLOB1MsJKbl4rDCw6nyDRTBdQC5r9Q879Tv6BeaHGz95sESpoiCFgEiClUBQZPlRv2iZxAMmNsNi
KsleNn36CVWUmytX1xJfVmbbEsDjcrhZeQ+Epi37AVJzZ+ubraRlqYeSvxoSRN+tKfIgRrTt+jYd
JQCqnVF9tyob0mPucTXnQFnaB5v0EPJMPUGULkbsz5ZEjiGPHIAgH9YZgmPAjMXTYKbuXIa3zE4I
MrS6X6uglRqSi9CodtRl5XC548y375Kkwp/kvK1FPhfuPRWlOCYEOL8uVxqA5k9oK4AkN02VV3iV
TnfrhoMW88b7TM5oBOpNPaCsBLi/Vn0PNJ77roMsADbgbUGS5SUEzHXJISdyg27rOtmydtj8mrWy
nSH9mgaZwu7EfEUrvoUZQLg2QLxtW+WF77b+pKtmfNk1wp73k6E+sxM27wDk1hc0duJ94uTy0Zab
nSH1qkW651M5mGMWU3wsINismet7uUuqpbe6aJvpFLQsoIJKdvTFVgzC54GFdtFpPbouQ7Fwr0ZB
YsgVeS26CPs99kvC9JwssoHE3ybyJBlNRU5mgRZ/1au2B1xfcYL2sYnZYhrb7hpFzKYBR+OrmdSh
Pa9bX3YZIbJ+bQR3YdcgsgGXLOoa0vZhIdqJbbgomnWNmghuFPCnytaZQawtM1J14sA+QjEdk6Do
R+MbfJoIPBUZbzdEdTkNAmv0WnrRq4xvFAhsOQK7hZymKDLZo8ZkJkzBnnSkkMXe1aGec4Ebeiup
VJBlcDbwfZEmjTofUJzXi7VP5JSlKznFiiuQqWzhQTGICoL9phIJdsbdY8TsU7L1I9IKW5xmQeJC
QPyt6CWIHSmkdiPk6dnMinteK3o3y1W+SRAu8xZNxao96B8vHZ2q03EZnb2OC7g7UGUzyVfLsroa
1iGSUXfbEt3pX48Cfzd8F0owIv4c3X+rM/0G7t/nfYF2esQ+lykFaL2IUCBR36D9oBFzwHTFkMAU
Ywzw9hXa1RFg3gFrOcAf5SAJf4d2KExLAHWEGMxTEBr+ErTDyX+KsZ/XBE8S6NCPkFIJQvWPGOur
NrAhtRntlb3cUDK0WQkyps2dd/wGTntxJlbgapnta7HnKJhPqofEJ8Gk3geW1nsG7CjzCSr2o5mH
rB0F2tsCFxciLgBHTVuGLV9mEICWFKQoTZC3XuNlIieblONrZsrmk5oKcPtqhOF2cO+oJc2JLFtQ
doyi9RkO47C3U8leENe6JqOs2447WbR7hUqxq1fnj0kSBQibsJsQEwYjsqA8vWitoNcElwvWoB2k
b4bQ9zueyPjRjvONHYeyyLqZ8uNqWkGpAhGleYXmZOrzqaIj1q3l/aeyR/4cdel6ZYWthQasLrZd
XQ9Du6sLBQoV5WvocrNJniVd5Qet2m3ssq5vgNp2KvW3a9PRE7aa0Wi7lOiidRW9CZDfvZ242kB/
lnHVnWhUeVwnSWHOxgnwEmLZdrbUIwsvN8B1cq7Wgc4gPQ22rLIF1AVy6tOqI9nWdwXgYrtauwM1
xuBzSPrs+RQ7e+5Bfr3v+WpAnB+ivyuTdSMnzVSO/h2ZKEkvQevvBkj4QfLPCwMqge6WXgCiO9nV
mqei81DWG1Ol2Qi5fgQRhMzbA66ji5eJnbotU1PTEohMwd84Yex5krh2OA2VV+qMdrgu3zFPUney
NqTQfI2B52wtx4wl9WK/0P/ej+7Wi3nZz730OYfc8XHt5um0nlt8TqIvsiQJN0RCbF+H2J1tm7Tv
BXjdKQbxJoB0GNPbyMjI9n058zJPqtbsXDWlu6KGg6jbqVh24I3lA6jVJq+pxWdzZH63NtVqj+lc
+j4fq83na9X5422dzG51sTtdjMLXC2H+cWIBCD8COfTSxk2dKOnnF3hchlPbwUKmOIgMonF1Mtsw
7dYykJ1sF9DmIM067RoFkb9dhLxtyXQzm+QSZJWhBoFKgD612fOqxxD60MrOIO8/4fPS7aBu4q/X
ah7ylncn9eySa+favJyTuzI1V0Gs9THCAr9t6vXGJ6Nvs4anbypChU47NOxQ0y6v7UQaEIn8Jz6b
Mt8SQnSx2mrHEjMt+5VvtxLJoNN2fKDlkn5MQjj5vKqkpUYDMzV6rkGnn9XCNbHd28MFVZhv6gTf
jgaKHoa4uAeZb9gXfSVOi4HWx6LA/Gwm7cVcsuFlL0bQUxnnh9wX5ZBy30yVJ4PGDrI8gNDLDksQ
M529Yt5eOZCT9t5MDy1R4arwlJx2sryKRjquWZue0cCWjG0zOwRgTM7l4ty+MGY6lxicH/ez0WS2
8o4NDb5thz7cgGeMD7xJl2yp+pPoENTHeEgfeb9tu1ms/mXo0HJc1lVxDYogPYHE7hVmY3HSNUTm
gOPvRrvVN5gvJK9W9DYtpkuGlhNxuEHZpyCtNLTVvlKgoK0leTu0kGKypNWHD6Fur5Z0rs/aOMzZ
RALaNSniJ6Tqe8jk66hbDGoXj/Q2CarIl5QGXYniYRjhzm10V6FWUdOkcOeg369vgDOIDCpPNajM
85ZZjm4cAimomVC5r7F4WEF71MQY8rrpY/KyGZXL0zjSY0rEbTuCTnO8LAfzMVKuGqpGJ5ODkt1i
1QfeK5K7pOqyprFCH/YeCkQv6q0D4aVg6ZQt64GWLQKEPbaxs2KZ+t3QrPm0lB+aOO3x1q/5sFUL
1QlaeGZANso90NzjgiY3K3bzSWzm5Wphc/UayndRp5ZuZy2UdKBqUlG8a0AH2NeeoaxU4wQMFkzv
IMNuv6QbX2vO/3uZ6t+No+CviSQwhz+uYT9p6fuNp/ww9xtTIdC1o4BicvgDKMEP1WyB+KFHgTIJ
NIFjSE+/MhV+BJdDpglpIUmBxvyQhPIjAmOpkjAMeTIoln8lCeVQl3+aDB4q6QhDFppKwlL6UxYa
km5eiDRZzxDovVCLiJft5hOjAymj3XVslqdFOV+Qri9pxp1U1/NY9uuOQop8svoNXUEWZy9YKOJ+
qiHy6rZQIBCBsl853XOOGpBaHYkgsrhu1WpQLdQwGBTsXs5o6OuXpICa4xvULhXWdT2n2TQV9NLV
aKn0AtnEsmsg6ofsUMc466wabw85BxSnymG5SjCfX6koARpaE1ncpYihVUPeZPtsnaeYO7ckIYtj
46u3dANYzGYrQHdsEeHXtNiWPQ/IP0AunIisiiB55tajGiQuw90nNfTnsatXcrHGYlxfj8ms2usf
BSXk/SyzZugbflWNHSdX2ySXmEGlK7HH3cTI8N51qm6OQVvk89X/+znAVx+hf+pfT9qZ/s2/DnO/
+Bc7gq4ODjqGgFxAUUpAr/km8oBEA27CGUTkFLq1YOSrf8kjCCgg8qgUchGOGAWn/CryiCNwBAy9
IoIwSAYO8sg3tesJ2kG7+tfPP3aLYP5vMo8SnKTQ7wpVLZJC28jTTGCcI2loVEDgq/W8sND6ICEu
UI0DaXcFSGGthoREQfF0HaB1Q3CI9VAjPq1KNL83oSFXpHX4BvVd+lGW0+NcJ+sAJXOoNLtQdJ/W
tJd7j2vgV/1W5ZzYNwkfB6fFSC9VXyRQ88aPoNTcTCAVXYiii3c8MrybfL++F9CxIvOg5AcbCwgk
sWTdTTUBp7bVlhwrkDAvSmHRDvFV7tcVV1U+p/N0LKtuyYqIivct9RzqUi6ZINNXTauHJposbdAG
wnCx2yqo04huvoa6pjoZt8Fecjld8mZ7mEb8AKrDnI1hoSegdfWnqFvpSbcBcSd8lruOoDlTEqTZ
GffubW07crVyk1xsyrde23aD6qGxDCTXZFz0ypNThqcHV6/LPoSqZxCvO34JPTjtXkwFiadQEDNn
oBN1OSv7u9EYUOiV6t4Mw0WtqpdFE+lpwfx4yx0fP7SLFFe0g8gbIL/KXDKKG1kl4U0Teaeb0M6v
lzSIOWtmay+XLlkMiM0gKs2jgyp1itrzsQvmdDLDdIuhMKxrY+nORg51+kib4YJOSbjEZTewvHYB
71rs0HGFD6WzsV0z4tIz4kV3jGL3AS5SusJDzMsybXc+rM2VH4fxthhGCVUtKMiOfEzOltB8WLwc
rS5H55p9l0DBdkrReoJEAtYuuxQK4FhceudDtasqNUFTw1STN/UAksmsuprouY9E91u5XFRO4htX
gcaqPam7EztUOHeLrd/aatleQLjYvEbSv1g2KHkVdug11J1HqW3SiOva0vdQ7q41tDex3ZoYccU9
aFhDN5g3jajb86VJthdLPWRl2THoKqiK5mzZ0jLvebUeg8543bWe3/1/g5spyBZ/zEuuf+iX/jfY
PEz9BpuIATCBAg6lqgPHAGLwDTZBtADEkUJCV8Rnlfs32ERQlzx0T37FTZj0FTbh/8VIBFrMoYEf
lHPF/hJsQuXzKS8hKIXGOg695sDSIVVThya8H5rswIFdAaX3DPqToOelsIAFtIbEWcTiJNit2JVu
hG6qKAS0oTTbvlZletGoWMMBrFvNlvSqQ2sPFfChz/rIxhuyiAZojThNFM86ofbdA05YCxRlSUHL
nHF5N6lZ7lFVekghlvQVbdCHpmc0CwXeGUz6rJ0cMPfKAj2BKh6k2xjndFYyb1klc+hxq/QG5d0T
hIO9aqHYlUVS4d3mR+gDqNftJXTggdgSQ3fdUmgSw8ljI5vubAIR9xj4Tve2WFGli5q6Pjs0w2VI
lK/lyHbpVm2nRVsX10MN1U1U216XQLr224bVrvXVrp5BK5omKOL5LRlPUofN2XDwX+imInr57NT2
4N/m4Onms9N3nwFAHbAAupPSHB/wYT4gRX/ADMq7ptlDhx0I6kr5DyPFyRnn0GgDwULmfmDjLVlI
c1Ud8MipOeb9AaM2AKt6NP3xRsjZpKCpByqfgGjFiI6J3/COOT+yvJy6eBm7ebiw64Ctntqe7pjB
WA+GTbeox+YUCnjobIPy7Wkqtg9QEFg3XRTDfK4OZra4GkABcP1rM9PLrmpuCujh2bXQB3Qcaouz
hUzwnKEFY4GFH/v/yc2ZLMeNY1H0i9hBgAOITS84ZKZGy0p5KG0YFVYJnAeAE/D1dUnZLtmyXJY3
rWhvbVFOJAm8d+55pBOPebvYJAoo+TDWagr9jrLETg09T1MzHZgkKs5mzz5bWlqd+66eDl2ZiSRv
zPjBdhsPICOw9+iVbxj0gAR58I1gc30QpboGDKkiUwUSUAPRua6NgEk0kyhLebHrpVVdKg69ZxSW
vHUFNK1e6lCS+XaRguxNM+YXnT+n7xn67rfVSrQc1yKx6hpQi26YQrMCLzyJwd5MjO3M6IrEBItE
M2dDDCABun6r+BMuW4UFt7o7AW8Edo7v+BEsGpLMRdGfWbOffiyW/nxo7OWe9ao/LfuORLpMrRNr
5PpqwmaM+n5RUYW1EZBv+JDAerSP27lVBlJfQk9ozwxOwDdur5rYZbYVcqCYPGzqzEDSGfrI65Bg
VJkgSeD31mkwO9XRpe5y48tUxu3KCPus8v7yNa+uC8DDfM6WKwkJJrJYB2trEUdmsQ/Clc6lmPV4
XRvbvx6wfe1Tr55CtfJIPOZAkz6b+UXfUthbmEzc0RVd5ivEnOhkRw2DuUY8ywo1xJ92yc2+8J0Z
TU2OjUXUFnoQ4l6V2pbhyOEeSp86sZyRzTeT/FjgRN1jvEmHohrLEyMns5PK3JWwPZ0Jl+YsvdVp
cF9W4Cb1Cl2DFb/q3J/3VplVcSeyLLKGWd0wQNGYtLgNMQpVxpNnmkOLuwnin86TCTQW1RwVUamH
Jq4mA8jbNM4l+h4FkazVoclyyIQ4t2NQzzt3Zp867dmHcR7Kk4aaMmYV86PAJ+cKnlFjQRFqFuWE
dlkelaWzuOmse9TVl9zuJ9RRVIDNzGSCAYEddSmtG0BQlI6oFHesdce71AvSK1L206FVdhPbznxm
+nTXVQR013LETjm0jnhnagis2LyaujzLe2PTUDWTjtopVYei1TSeTaN4CIMX5KatrYu55yTxtUSx
LT+MmY5qD1HWMOOHBl6dzZ3Wp7Jp33HRkcTC5hPXuRHR/381gESEsVVz/0kt8GTadDPYv/zgF0Dh
41RHe+Sh4Qkcl6NDeagEEKWga8EkqxuA3bqM47j/3EBhhsKj6K3wlHkYqIR2/6gSoOjIkJEjQweo
cO0X6fZk/SXfEgoEM55P0KTBt+feFmc/qgSAsaaMyjKyM9LDiITjE1rtmMUt4oZ3bM3kFoRz1RbT
VW2OyE4H0r1QW5C3CAuhHhA/Aj5kzPfAlN1fZov/vHxJHWDaNRb0Us0PY0FPdFbjhGzQselzawsT
uy1YtB3cwGGD6bk/Fsi5cwxBJE13eQW19aAQWMDg26LKEvETnnkXor8yVPLIrkCCoZfP0IRpGhAR
tXh2ZTz4DMUHFlJ9oqTU93UzjEc1BGO7r63SPvJs8HkyLkKc1QHocVgOqrZ2CkZWdxoYeJ8h9bw8
P8zODAezzUeYMkXnu/I8L6g5jKkrSex1jj5mRQZDbG5lBqsf+W1YsL7OY9TZYxUC5mRF0i4a9jBX
8dhrnUeAkH3xViz9NIDGIGMwuSPeOmL2bltozwiE3NFcdZC1EQBr0nWJW4riDnhl+OiX2fhHMEDC
VjadQPw7kE50BAw7es4HKGAGjXyYcWbBx1v87FS1aC73y+xSuL5VU76DW6dokvcDuR0DyctdoS2+
9+ScXQtpliNNG/U+5SobDjmFsxyiGOhkhIrStJGfT26B6Ydm5fKjPRvMOqi+x3fc9rj+kqZVYviI
YQtB7XS/QKY8Vopgh3TLkZozMTVGJw9+k7F1c1ZWhKbIMH4mOZlcpiJkFcmq/XOqkycm/7KmE7l5
0J36IIAf3y8N+ZHuBM1yRtM08jf/rjwBPVgmHHw38yNnJVrI5/03CGCYjtssAPLCvQP8tZS9GCPf
tcd4ITl2aWeDZYxBFUu8bsQNaVi9HLORLJeIXgDZ4K6iF16m5rTaINxKTgDkNjgHC9C7sFDKR2aD
d3QDedMG9dgG+PDlAfbNw4Ijy6o1ODSyHABBpFeAg2ZAvnEybtDQXflhsZLE3m/tS+EoRPZV2mrU
imCOdMOPHCCyXYmk2uCk6ddHy1uZZfeAL3PHk0iObN7HVECm6bmfHQgOlFNNPWdMXs+p8Rmw/1Cw
+jqutP7tNqd00yY/ne567h99IVs/vtDLjK3vad72O7dxs59d5/GbFdas3Mb00dpgrn++mdpz/vN0
dh8n36N1+r0P+VRoe3qdbz7Ap8fvV/hGXXsy9PbMEnx3hX+W4DcGF/8nS/Bv9t4TQvHMQnx3nX8W
4jdG0V/XQvy4OHvpMvzGy0Ze1zJ8ScO+931euhDQc1763ojXtRBf9SX8tx5euPJ1y33BFvkLbwF4
XR/7uaTn5d8/e+nM/a8uxC8cIJ/N6O11R//9GwAA//8=</cx:binary>
              </cx:geoCache>
            </cx:geography>
          </cx:layoutPr>
          <cx:valueColors>
            <cx:minColor>
              <a:schemeClr val="bg1">
                <a:lumMod val="85000"/>
              </a:schemeClr>
            </cx:minColor>
            <cx:midColor>
              <a:srgbClr val="0070C0"/>
            </cx:midColor>
            <cx:maxColor>
              <a:schemeClr val="tx1"/>
            </cx:maxColor>
          </cx:valueColors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4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85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3175">
        <a:solidFill>
          <a:schemeClr val="dk1">
            <a:lumMod val="50000"/>
            <a:lumOff val="50000"/>
          </a:schemeClr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595CC-CCCF-4896-1F2A-113B3B8C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56C80C-4306-96EC-71C2-1EFABF031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AADF0-E5B2-EAA9-AC69-5DDD3199E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9DEA-EAFE-45A9-B73A-8D234DC69B16}" type="datetimeFigureOut">
              <a:rPr lang="en-NG" smtClean="0"/>
              <a:t>14/06/2025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E85BD-BA31-EF4C-E069-D9148E97B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F6F70-4416-D061-1785-CCE06DC0C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658B0-1099-45AA-80FA-54DDB705D5E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977548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ABDD2-7AC7-43F8-833E-16C8424E9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A8A34-2D24-3E7A-4F6C-FEC811F52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EE8C3-A313-3DF9-3725-8BCBDF794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9DEA-EAFE-45A9-B73A-8D234DC69B16}" type="datetimeFigureOut">
              <a:rPr lang="en-NG" smtClean="0"/>
              <a:t>14/06/2025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B4D62-87C8-FE98-7D8C-F72DCD01B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F00A1-1389-6C5D-A9B5-9D1E804F0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658B0-1099-45AA-80FA-54DDB705D5E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768873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A3EF5-DA00-407B-04D8-B5C99CB42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EF4F6-ACE6-2BCE-B5CF-CE7AC4D3B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510CA-8F33-BAC3-2F46-8674B9005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9DEA-EAFE-45A9-B73A-8D234DC69B16}" type="datetimeFigureOut">
              <a:rPr lang="en-NG" smtClean="0"/>
              <a:t>14/06/2025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CBBCC-684E-12CE-71CB-BF071F1E1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E88BC-2CED-BFDA-3CA7-73DC9E9CF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658B0-1099-45AA-80FA-54DDB705D5E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556901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C1A7B-DD86-2080-CF86-548CEFB98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23AA3-F169-343C-364E-2B0D327FF6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298E72-AA71-0A7D-08E3-6B74F9457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56ADE-F12E-C315-8918-C7B113918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9DEA-EAFE-45A9-B73A-8D234DC69B16}" type="datetimeFigureOut">
              <a:rPr lang="en-NG" smtClean="0"/>
              <a:t>14/06/2025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30BB9-6771-C39A-43B6-4E4A29526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C43938-F5A7-DA90-AAB9-F4869FF8A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658B0-1099-45AA-80FA-54DDB705D5E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642040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D5056-570D-3421-BA8A-8ED0412E1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335881-E71B-49A9-C408-8D412E568C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377C6-AD4F-81C3-FA50-D1A048F7E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DC8DE-24D9-9CC5-03D2-45B40552D4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354A73-D6B9-AFB0-0F3A-FF33B2F509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141D6C-E8FA-0315-B6C6-1E18442FE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9DEA-EAFE-45A9-B73A-8D234DC69B16}" type="datetimeFigureOut">
              <a:rPr lang="en-NG" smtClean="0"/>
              <a:t>14/06/2025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5D3C3A-CFA6-2DDE-C8BF-7CC452E87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07CE85-3C71-DB7F-BBA0-AF314CC28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658B0-1099-45AA-80FA-54DDB705D5E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09110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6D43E-F59E-81BC-7B3B-08BF17341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0951A3-BDD7-3068-3257-89FE0197C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9DEA-EAFE-45A9-B73A-8D234DC69B16}" type="datetimeFigureOut">
              <a:rPr lang="en-NG" smtClean="0"/>
              <a:t>14/06/2025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9685C4-A04A-5224-4606-834DA7257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C8AFFE-30C2-AE02-C7E9-CDEABA837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658B0-1099-45AA-80FA-54DDB705D5E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79825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0D4C47-EFAE-D30D-495A-3E78EBD57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9DEA-EAFE-45A9-B73A-8D234DC69B16}" type="datetimeFigureOut">
              <a:rPr lang="en-NG" smtClean="0"/>
              <a:t>14/06/2025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653A88-211D-D5CC-CFA5-5D6C08E5B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0DBD9-D076-B724-7316-1BC1DA680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658B0-1099-45AA-80FA-54DDB705D5E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88669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A7449-0D99-0CBB-8022-5CCF185A1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36EAD-3841-9175-D014-56AD99968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DEF63E-B822-EC5A-2D9C-937C83E621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C1C3FE-9346-8A06-9635-8C4E887EB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9DEA-EAFE-45A9-B73A-8D234DC69B16}" type="datetimeFigureOut">
              <a:rPr lang="en-NG" smtClean="0"/>
              <a:t>14/06/2025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3B1AB-0F10-DA7A-EB79-CA507547D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A54D9E-EC1E-69CF-B39A-97DFAE6E0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658B0-1099-45AA-80FA-54DDB705D5E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88617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CE1E6-1B00-29C9-4B65-7393BC8B6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B08792-DC9E-E27D-4BEE-13265A5E67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E0382-E53C-B3E6-C7BC-347E2B73AE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5847EE-942F-2DB9-AD5F-CD431CEFF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9DEA-EAFE-45A9-B73A-8D234DC69B16}" type="datetimeFigureOut">
              <a:rPr lang="en-NG" smtClean="0"/>
              <a:t>14/06/2025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5251A-1EE9-4850-1DBA-629874D0B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CA69D-C563-B59F-0B13-E16ED98EB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658B0-1099-45AA-80FA-54DDB705D5E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568151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4DC17-F218-3BC2-8F74-2FD7BEC3F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FF5870-D0F1-CA6F-B199-409A2B066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C1BD5-7394-AEC1-C463-D7ABE6088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9DEA-EAFE-45A9-B73A-8D234DC69B16}" type="datetimeFigureOut">
              <a:rPr lang="en-NG" smtClean="0"/>
              <a:t>14/06/2025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18855-4BBC-CFB9-C898-381CFA043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F5419-9928-0E4D-7EDA-34E355DF5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658B0-1099-45AA-80FA-54DDB705D5E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4252004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E05B2B-4876-0CB3-28B8-484E6F1045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064C5B-5954-1A1D-5CA0-7853717FE4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ECAF7-8D33-2121-DC64-BB78FC428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19DEA-EAFE-45A9-B73A-8D234DC69B16}" type="datetimeFigureOut">
              <a:rPr lang="en-NG" smtClean="0"/>
              <a:t>14/06/2025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AE55C-330E-C4F0-479C-A9DD00290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52222-81C6-01BD-2E28-D2A49263E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6658B0-1099-45AA-80FA-54DDB705D5E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516455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3B0A3-820E-1046-521C-CD7ABCDDA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75B7F9-E720-54C3-9271-B015D577D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A812C-1657-4B00-5F33-3FC7EB09F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519DEA-EAFE-45A9-B73A-8D234DC69B16}" type="datetimeFigureOut">
              <a:rPr lang="en-NG" smtClean="0"/>
              <a:t>14/06/2025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E89B8-9DDD-0F31-11F0-BD2822AFE9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6DC7AA-D64C-1263-8459-02CB1C44BA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6658B0-1099-45AA-80FA-54DDB705D5E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226647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emf"/><Relationship Id="rId4" Type="http://schemas.openxmlformats.org/officeDocument/2006/relationships/package" Target="../embeddings/Microsoft_Excel_Worksheet1.xlsx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emf"/><Relationship Id="rId4" Type="http://schemas.openxmlformats.org/officeDocument/2006/relationships/package" Target="../embeddings/Microsoft_Excel_Worksheet2.xlsx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chart" Target="../charts/chart2.xml"/><Relationship Id="rId4" Type="http://schemas.openxmlformats.org/officeDocument/2006/relationships/chart" Target="../charts/chart1.xml"/><Relationship Id="rId9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EAB7DB-ED24-E337-B055-4D077D3D0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39737"/>
            <a:ext cx="9144000" cy="1832212"/>
          </a:xfrm>
          <a:solidFill>
            <a:srgbClr val="002060"/>
          </a:solidFill>
          <a:ln>
            <a:noFill/>
          </a:ln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endParaRPr lang="en-US" sz="36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0"/>
              </a:spcBef>
            </a:pPr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SALES PERFORMANCE ANALYSIS</a:t>
            </a:r>
          </a:p>
          <a:p>
            <a:pPr>
              <a:spcBef>
                <a:spcPts val="0"/>
              </a:spcBef>
            </a:pPr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 – DEC 2020</a:t>
            </a:r>
          </a:p>
          <a:p>
            <a:r>
              <a:rPr lang="en-US" sz="1400" b="1" dirty="0">
                <a:solidFill>
                  <a:schemeClr val="bg1"/>
                </a:solidFill>
              </a:rPr>
              <a:t>TOWARDS GROWTH AND EXPANSION</a:t>
            </a:r>
            <a:endParaRPr lang="en-NG" sz="1400" b="1" dirty="0">
              <a:solidFill>
                <a:schemeClr val="bg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D85E4AD-0C3C-E55F-70D3-8D5AC807F4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b="1" dirty="0" err="1">
                <a:latin typeface="Calibri" panose="020F0502020204030204" pitchFamily="34" charset="0"/>
                <a:cs typeface="Calibri" panose="020F0502020204030204" pitchFamily="34" charset="0"/>
              </a:rPr>
              <a:t>AutoCar</a:t>
            </a:r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 LTD</a:t>
            </a:r>
            <a:endParaRPr lang="en-NG" sz="4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Graphic 15" descr="Car with solid fill">
            <a:extLst>
              <a:ext uri="{FF2B5EF4-FFF2-40B4-BE49-F238E27FC236}">
                <a16:creationId xmlns:a16="http://schemas.microsoft.com/office/drawing/2014/main" id="{0F038638-7102-0DAF-DE4B-668DD8750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85709" y="1447952"/>
            <a:ext cx="3220582" cy="1574495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5E0E9665-0BA9-0A8F-9A93-365E7DEB709F}"/>
              </a:ext>
            </a:extLst>
          </p:cNvPr>
          <p:cNvSpPr txBox="1">
            <a:spLocks/>
          </p:cNvSpPr>
          <p:nvPr/>
        </p:nvSpPr>
        <p:spPr>
          <a:xfrm>
            <a:off x="3562349" y="1041400"/>
            <a:ext cx="5067301" cy="2387600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endParaRPr lang="en-US" sz="36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356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EAB7DB-ED24-E337-B055-4D077D3D0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4084" y="2071047"/>
            <a:ext cx="9144000" cy="1832212"/>
          </a:xfrm>
          <a:noFill/>
          <a:ln>
            <a:noFill/>
          </a:ln>
        </p:spPr>
        <p:txBody>
          <a:bodyPr>
            <a:normAutofit fontScale="92500" lnSpcReduction="10000"/>
          </a:bodyPr>
          <a:lstStyle/>
          <a:p>
            <a:pPr algn="l">
              <a:spcBef>
                <a:spcPts val="0"/>
              </a:spcBef>
            </a:pPr>
            <a:r>
              <a:rPr lang="en-US" sz="32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</a:t>
            </a:r>
            <a:r>
              <a:rPr lang="en-US" sz="32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Confidently open a new branch in an existing 	state or new location</a:t>
            </a:r>
          </a:p>
          <a:p>
            <a:pPr algn="l">
              <a:spcBef>
                <a:spcPts val="0"/>
              </a:spcBef>
            </a:pPr>
            <a:endParaRPr lang="en-US" sz="3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Bef>
                <a:spcPts val="0"/>
              </a:spcBef>
            </a:pPr>
            <a:r>
              <a:rPr lang="en-US" sz="32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</a:t>
            </a:r>
            <a:r>
              <a:rPr lang="en-US" sz="32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Increase sales by </a:t>
            </a:r>
            <a:r>
              <a:rPr lang="en-US" sz="5400" b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24%</a:t>
            </a:r>
            <a:endParaRPr lang="en-NG" sz="5400" b="1" dirty="0">
              <a:solidFill>
                <a:srgbClr val="C00000"/>
              </a:solidFill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50C6C51-8290-1D71-BA78-2222AEB4E859}"/>
              </a:ext>
            </a:extLst>
          </p:cNvPr>
          <p:cNvSpPr txBox="1">
            <a:spLocks/>
          </p:cNvSpPr>
          <p:nvPr/>
        </p:nvSpPr>
        <p:spPr>
          <a:xfrm>
            <a:off x="1523999" y="514350"/>
            <a:ext cx="9244085" cy="80067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5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ACTION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9FF34D-F8CD-94C4-798D-0C6910459251}"/>
              </a:ext>
            </a:extLst>
          </p:cNvPr>
          <p:cNvSpPr txBox="1">
            <a:spLocks/>
          </p:cNvSpPr>
          <p:nvPr/>
        </p:nvSpPr>
        <p:spPr>
          <a:xfrm>
            <a:off x="1523999" y="6277970"/>
            <a:ext cx="8119498" cy="65680"/>
          </a:xfrm>
          <a:prstGeom prst="rect">
            <a:avLst/>
          </a:prstGeom>
          <a:solidFill>
            <a:srgbClr val="002060"/>
          </a:solidFill>
          <a:ln w="38100">
            <a:noFill/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endParaRPr lang="en-US" sz="36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Graphic 15" descr="Car with solid fill">
            <a:extLst>
              <a:ext uri="{FF2B5EF4-FFF2-40B4-BE49-F238E27FC236}">
                <a16:creationId xmlns:a16="http://schemas.microsoft.com/office/drawing/2014/main" id="{181B06D9-88BD-DFFB-5BAC-7F3E384599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43497" y="5935354"/>
            <a:ext cx="1670312" cy="81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041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EAB7DB-ED24-E337-B055-4D077D3D0D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1673271"/>
            <a:ext cx="9143998" cy="3511458"/>
          </a:xfrm>
          <a:noFill/>
          <a:ln>
            <a:noFill/>
          </a:ln>
        </p:spPr>
        <p:txBody>
          <a:bodyPr>
            <a:normAutofit/>
          </a:bodyPr>
          <a:lstStyle/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analyze the performance of the branches across different regions</a:t>
            </a: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identify branches with the highest sales</a:t>
            </a: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compare the sales performance across branches</a:t>
            </a: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 understand regional preference and trends</a:t>
            </a:r>
          </a:p>
          <a:p>
            <a:pPr algn="l">
              <a:spcBef>
                <a:spcPts val="0"/>
              </a:spcBef>
            </a:pPr>
            <a:endParaRPr lang="en-US" sz="32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50C6C51-8290-1D71-BA78-2222AEB4E859}"/>
              </a:ext>
            </a:extLst>
          </p:cNvPr>
          <p:cNvSpPr txBox="1">
            <a:spLocks/>
          </p:cNvSpPr>
          <p:nvPr/>
        </p:nvSpPr>
        <p:spPr>
          <a:xfrm>
            <a:off x="1523999" y="514351"/>
            <a:ext cx="9789810" cy="81659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OBJECTIVES</a:t>
            </a:r>
          </a:p>
        </p:txBody>
      </p:sp>
      <mc:AlternateContent xmlns:mc="http://schemas.openxmlformats.org/markup-compatibility/2006">
        <mc:Choice xmlns:cx4="http://schemas.microsoft.com/office/drawing/2016/5/10/chartex" Requires="cx4">
          <p:graphicFrame>
            <p:nvGraphicFramePr>
              <p:cNvPr id="5" name="Chart 4">
                <a:extLst>
                  <a:ext uri="{FF2B5EF4-FFF2-40B4-BE49-F238E27FC236}">
                    <a16:creationId xmlns:a16="http://schemas.microsoft.com/office/drawing/2014/main" id="{699EA410-DA9B-67B2-AB39-8AAABCCE920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290170888"/>
                  </p:ext>
                </p:extLst>
              </p:nvPr>
            </p:nvGraphicFramePr>
            <p:xfrm>
              <a:off x="8760417" y="3869945"/>
              <a:ext cx="2785404" cy="2276096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5" name="Chart 4">
                <a:extLst>
                  <a:ext uri="{FF2B5EF4-FFF2-40B4-BE49-F238E27FC236}">
                    <a16:creationId xmlns:a16="http://schemas.microsoft.com/office/drawing/2014/main" id="{699EA410-DA9B-67B2-AB39-8AAABCCE920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60417" y="3869945"/>
                <a:ext cx="2785404" cy="2276096"/>
              </a:xfrm>
              <a:prstGeom prst="rect">
                <a:avLst/>
              </a:prstGeom>
            </p:spPr>
          </p:pic>
        </mc:Fallback>
      </mc:AlternateContent>
      <p:sp>
        <p:nvSpPr>
          <p:cNvPr id="6" name="Subtitle 2">
            <a:extLst>
              <a:ext uri="{FF2B5EF4-FFF2-40B4-BE49-F238E27FC236}">
                <a16:creationId xmlns:a16="http://schemas.microsoft.com/office/drawing/2014/main" id="{05B54574-B441-FCB2-A25C-7F4220DB98A4}"/>
              </a:ext>
            </a:extLst>
          </p:cNvPr>
          <p:cNvSpPr txBox="1">
            <a:spLocks/>
          </p:cNvSpPr>
          <p:nvPr/>
        </p:nvSpPr>
        <p:spPr>
          <a:xfrm>
            <a:off x="1523999" y="6277970"/>
            <a:ext cx="8119498" cy="65680"/>
          </a:xfrm>
          <a:prstGeom prst="rect">
            <a:avLst/>
          </a:prstGeom>
          <a:solidFill>
            <a:srgbClr val="002060"/>
          </a:solidFill>
          <a:ln w="38100">
            <a:noFill/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endParaRPr lang="en-US" sz="36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Graphic 15" descr="Car with solid fill">
            <a:extLst>
              <a:ext uri="{FF2B5EF4-FFF2-40B4-BE49-F238E27FC236}">
                <a16:creationId xmlns:a16="http://schemas.microsoft.com/office/drawing/2014/main" id="{D923ADF2-EF4F-FCB4-C709-8FB8F7E3DE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43497" y="5935354"/>
            <a:ext cx="1670312" cy="81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0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350C6C51-8290-1D71-BA78-2222AEB4E859}"/>
              </a:ext>
            </a:extLst>
          </p:cNvPr>
          <p:cNvSpPr txBox="1">
            <a:spLocks/>
          </p:cNvSpPr>
          <p:nvPr/>
        </p:nvSpPr>
        <p:spPr>
          <a:xfrm>
            <a:off x="1624084" y="492642"/>
            <a:ext cx="9689725" cy="816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4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FACTS - </a:t>
            </a:r>
            <a:r>
              <a:rPr lang="en-US" sz="32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2020 summary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5F9844-64A4-B445-2FA8-423AB637E823}"/>
              </a:ext>
            </a:extLst>
          </p:cNvPr>
          <p:cNvSpPr txBox="1"/>
          <p:nvPr/>
        </p:nvSpPr>
        <p:spPr>
          <a:xfrm>
            <a:off x="1624084" y="1897039"/>
            <a:ext cx="3084394" cy="2308324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Total Sales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sz="6600" b="1" dirty="0">
                <a:solidFill>
                  <a:srgbClr val="002060"/>
                </a:solidFill>
              </a:rPr>
              <a:t>1491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CBDFD4-BF46-D312-04E6-5536E3047279}"/>
              </a:ext>
            </a:extLst>
          </p:cNvPr>
          <p:cNvSpPr txBox="1"/>
          <p:nvPr/>
        </p:nvSpPr>
        <p:spPr>
          <a:xfrm>
            <a:off x="4904098" y="1897037"/>
            <a:ext cx="308439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Total Quantity Sold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4C806F-ABD0-6492-D0BB-61DBBD17C14A}"/>
              </a:ext>
            </a:extLst>
          </p:cNvPr>
          <p:cNvSpPr txBox="1"/>
          <p:nvPr/>
        </p:nvSpPr>
        <p:spPr>
          <a:xfrm>
            <a:off x="4904098" y="2536448"/>
            <a:ext cx="3084394" cy="1785104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Brand</a:t>
            </a:r>
          </a:p>
          <a:p>
            <a:pPr algn="ctr"/>
            <a:r>
              <a:rPr lang="en-US" sz="6600" b="1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6E491A-6C7F-813F-F1D3-5894EFE85FE2}"/>
              </a:ext>
            </a:extLst>
          </p:cNvPr>
          <p:cNvSpPr txBox="1"/>
          <p:nvPr/>
        </p:nvSpPr>
        <p:spPr>
          <a:xfrm>
            <a:off x="4904098" y="4580254"/>
            <a:ext cx="3084394" cy="1785104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Model</a:t>
            </a:r>
          </a:p>
          <a:p>
            <a:pPr algn="ctr"/>
            <a:r>
              <a:rPr lang="en-US" sz="6600" b="1" dirty="0">
                <a:solidFill>
                  <a:srgbClr val="002060"/>
                </a:solidFill>
              </a:rPr>
              <a:t>17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6435FF-D997-63FA-9196-32AE8E868BCE}"/>
              </a:ext>
            </a:extLst>
          </p:cNvPr>
          <p:cNvSpPr txBox="1"/>
          <p:nvPr/>
        </p:nvSpPr>
        <p:spPr>
          <a:xfrm>
            <a:off x="8184112" y="1897037"/>
            <a:ext cx="2483885" cy="2092881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Branches</a:t>
            </a:r>
          </a:p>
          <a:p>
            <a:pPr algn="ctr"/>
            <a:endParaRPr lang="en-US" sz="2000" b="1" dirty="0">
              <a:solidFill>
                <a:srgbClr val="002060"/>
              </a:solidFill>
            </a:endParaRPr>
          </a:p>
          <a:p>
            <a:pPr algn="ctr"/>
            <a:endParaRPr lang="en-US" sz="2000" b="1" dirty="0">
              <a:solidFill>
                <a:srgbClr val="002060"/>
              </a:solidFill>
            </a:endParaRPr>
          </a:p>
          <a:p>
            <a:pPr algn="ctr"/>
            <a:r>
              <a:rPr lang="en-US" sz="6600" b="1" dirty="0">
                <a:solidFill>
                  <a:srgbClr val="002060"/>
                </a:solidFill>
              </a:rPr>
              <a:t>6</a:t>
            </a:r>
            <a:endParaRPr lang="en-NG" sz="6600" b="1" dirty="0">
              <a:solidFill>
                <a:srgbClr val="002060"/>
              </a:solidFill>
            </a:endParaRPr>
          </a:p>
        </p:txBody>
      </p:sp>
      <p:pic>
        <p:nvPicPr>
          <p:cNvPr id="14" name="Graphic 15" descr="Car with solid fill">
            <a:extLst>
              <a:ext uri="{FF2B5EF4-FFF2-40B4-BE49-F238E27FC236}">
                <a16:creationId xmlns:a16="http://schemas.microsoft.com/office/drawing/2014/main" id="{B800B55C-EB35-3BEC-B40D-E53CBA931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43497" y="5935354"/>
            <a:ext cx="1670312" cy="81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02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92880-8FCE-6C97-8D3D-8CD920883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0085"/>
            <a:ext cx="10475609" cy="816591"/>
          </a:xfrm>
          <a:solidFill>
            <a:srgbClr val="002060"/>
          </a:solidFill>
        </p:spPr>
        <p:txBody>
          <a:bodyPr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INSIGHTS</a:t>
            </a:r>
            <a:endParaRPr lang="en-NG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C8D65-D103-139B-5ED6-D76A491732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Key Definitions</a:t>
            </a:r>
          </a:p>
          <a:p>
            <a:pPr marL="0" indent="0" algn="ctr">
              <a:buNone/>
            </a:pPr>
            <a:endParaRPr lang="en-US" sz="200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Total Quantity sold (Car Sales)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Population (Market Size)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PAYE </a:t>
            </a:r>
            <a:r>
              <a:rPr lang="en-US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(Internally Generated Revenue - IGR) </a:t>
            </a:r>
            <a:r>
              <a:rPr lang="en-US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(Economic Strength of the State)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7411B2AF-BEF8-22C9-2764-36EBBC3C5A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7327465"/>
              </p:ext>
            </p:extLst>
          </p:nvPr>
        </p:nvGraphicFramePr>
        <p:xfrm>
          <a:off x="6172202" y="2390775"/>
          <a:ext cx="4537075" cy="267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537138" imgH="2673227" progId="Excel.Sheet.12">
                  <p:embed/>
                </p:oleObj>
              </mc:Choice>
              <mc:Fallback>
                <p:oleObj name="Worksheet" r:id="rId2" imgW="4537138" imgH="2673227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72202" y="2390775"/>
                        <a:ext cx="4537075" cy="2673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ubtitle 2">
            <a:extLst>
              <a:ext uri="{FF2B5EF4-FFF2-40B4-BE49-F238E27FC236}">
                <a16:creationId xmlns:a16="http://schemas.microsoft.com/office/drawing/2014/main" id="{5E3FA9D6-3FAA-509D-15AE-1FB82D2986A3}"/>
              </a:ext>
            </a:extLst>
          </p:cNvPr>
          <p:cNvSpPr txBox="1">
            <a:spLocks/>
          </p:cNvSpPr>
          <p:nvPr/>
        </p:nvSpPr>
        <p:spPr>
          <a:xfrm>
            <a:off x="1523999" y="6277970"/>
            <a:ext cx="8119498" cy="65680"/>
          </a:xfrm>
          <a:prstGeom prst="rect">
            <a:avLst/>
          </a:prstGeom>
          <a:solidFill>
            <a:srgbClr val="002060"/>
          </a:solidFill>
          <a:ln w="38100">
            <a:noFill/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endParaRPr lang="en-US" sz="36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Graphic 15" descr="Car with solid fill">
            <a:extLst>
              <a:ext uri="{FF2B5EF4-FFF2-40B4-BE49-F238E27FC236}">
                <a16:creationId xmlns:a16="http://schemas.microsoft.com/office/drawing/2014/main" id="{5347627B-3C8B-F50A-27EF-22FE7F5C52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43497" y="5935354"/>
            <a:ext cx="1670312" cy="81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957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350C6C51-8290-1D71-BA78-2222AEB4E859}"/>
              </a:ext>
            </a:extLst>
          </p:cNvPr>
          <p:cNvSpPr txBox="1">
            <a:spLocks/>
          </p:cNvSpPr>
          <p:nvPr/>
        </p:nvSpPr>
        <p:spPr>
          <a:xfrm>
            <a:off x="1523998" y="705792"/>
            <a:ext cx="9789811" cy="72300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BRANCHES PERFORMANCE</a:t>
            </a:r>
            <a:endParaRPr lang="en-US" sz="44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5F9844-64A4-B445-2FA8-423AB637E823}"/>
              </a:ext>
            </a:extLst>
          </p:cNvPr>
          <p:cNvSpPr txBox="1"/>
          <p:nvPr/>
        </p:nvSpPr>
        <p:spPr>
          <a:xfrm>
            <a:off x="1606334" y="2052247"/>
            <a:ext cx="2603851" cy="236988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LAGOS</a:t>
            </a:r>
          </a:p>
          <a:p>
            <a:pPr algn="ctr"/>
            <a:endParaRPr lang="en-US" sz="4400" b="1" dirty="0">
              <a:solidFill>
                <a:srgbClr val="002060"/>
              </a:solidFill>
            </a:endParaRPr>
          </a:p>
          <a:p>
            <a:pPr algn="ctr"/>
            <a:r>
              <a:rPr lang="en-US" sz="6000" b="1" dirty="0">
                <a:solidFill>
                  <a:srgbClr val="002060"/>
                </a:solidFill>
              </a:rPr>
              <a:t>361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6E491A-6C7F-813F-F1D3-5894EFE85FE2}"/>
              </a:ext>
            </a:extLst>
          </p:cNvPr>
          <p:cNvSpPr txBox="1"/>
          <p:nvPr/>
        </p:nvSpPr>
        <p:spPr>
          <a:xfrm>
            <a:off x="1617405" y="4912774"/>
            <a:ext cx="3084394" cy="1785104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EKITI</a:t>
            </a:r>
          </a:p>
          <a:p>
            <a:pPr algn="ctr"/>
            <a:r>
              <a:rPr lang="en-US" sz="6600" b="1" dirty="0">
                <a:solidFill>
                  <a:srgbClr val="002060"/>
                </a:solidFill>
              </a:rPr>
              <a:t>17</a:t>
            </a:r>
          </a:p>
        </p:txBody>
      </p:sp>
      <p:pic>
        <p:nvPicPr>
          <p:cNvPr id="14" name="Graphic 15" descr="Car with solid fill">
            <a:extLst>
              <a:ext uri="{FF2B5EF4-FFF2-40B4-BE49-F238E27FC236}">
                <a16:creationId xmlns:a16="http://schemas.microsoft.com/office/drawing/2014/main" id="{B800B55C-EB35-3BEC-B40D-E53CBA931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43497" y="5935354"/>
            <a:ext cx="1670312" cy="8165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05F661-8405-3163-5F35-9189D1AF1568}"/>
              </a:ext>
            </a:extLst>
          </p:cNvPr>
          <p:cNvSpPr txBox="1"/>
          <p:nvPr/>
        </p:nvSpPr>
        <p:spPr>
          <a:xfrm>
            <a:off x="4701799" y="2052247"/>
            <a:ext cx="2777174" cy="2339102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OSUN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sz="6600" b="1" dirty="0">
                <a:solidFill>
                  <a:srgbClr val="002060"/>
                </a:solidFill>
              </a:rPr>
              <a:t>337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02EF30-42DC-8D1C-30B7-94B6AE4C252E}"/>
              </a:ext>
            </a:extLst>
          </p:cNvPr>
          <p:cNvSpPr txBox="1"/>
          <p:nvPr/>
        </p:nvSpPr>
        <p:spPr>
          <a:xfrm>
            <a:off x="7801093" y="2052247"/>
            <a:ext cx="2777174" cy="2339102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/>
              <a:t>OGUN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sz="6600" b="1" dirty="0">
                <a:solidFill>
                  <a:srgbClr val="002060"/>
                </a:solidFill>
              </a:rPr>
              <a:t>336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1E577E-C629-239B-C5A7-AD0434FB2F46}"/>
              </a:ext>
            </a:extLst>
          </p:cNvPr>
          <p:cNvSpPr txBox="1"/>
          <p:nvPr/>
        </p:nvSpPr>
        <p:spPr>
          <a:xfrm>
            <a:off x="1523998" y="1575894"/>
            <a:ext cx="4087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TOP PERFORMING BRANCHES</a:t>
            </a:r>
            <a:endParaRPr lang="en-NG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E5AA1C-B4DD-B67C-B2AD-3F70125C967D}"/>
              </a:ext>
            </a:extLst>
          </p:cNvPr>
          <p:cNvSpPr txBox="1"/>
          <p:nvPr/>
        </p:nvSpPr>
        <p:spPr>
          <a:xfrm>
            <a:off x="5345727" y="5482160"/>
            <a:ext cx="49107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UNDERPERFORMING BRANCH - </a:t>
            </a:r>
            <a:r>
              <a:rPr lang="en-US" sz="18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 significant underperformance that needs investigation.</a:t>
            </a:r>
            <a:endParaRPr lang="en-NG" sz="18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B07164C1-9B50-265E-93F4-1AB71DBE3240}"/>
              </a:ext>
            </a:extLst>
          </p:cNvPr>
          <p:cNvCxnSpPr>
            <a:cxnSpLocks/>
          </p:cNvCxnSpPr>
          <p:nvPr/>
        </p:nvCxnSpPr>
        <p:spPr>
          <a:xfrm rot="10800000" flipV="1">
            <a:off x="4717283" y="5650173"/>
            <a:ext cx="618993" cy="495868"/>
          </a:xfrm>
          <a:prstGeom prst="bentConnector3">
            <a:avLst/>
          </a:prstGeom>
          <a:ln w="38100">
            <a:solidFill>
              <a:srgbClr val="00206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285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92880-8FCE-6C97-8D3D-8CD920883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195" y="514350"/>
            <a:ext cx="10475609" cy="812696"/>
          </a:xfr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SALES BY AGE GROUP</a:t>
            </a:r>
            <a:endParaRPr lang="en-NG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C8D65-D103-139B-5ED6-D76A49173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39154"/>
            <a:ext cx="5181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Primary Customer Base</a:t>
            </a:r>
            <a:endParaRPr lang="en-NG" sz="2400" b="1" dirty="0">
              <a:solidFill>
                <a:srgbClr val="002060"/>
              </a:solidFill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26–30 years: 480 sales</a:t>
            </a:r>
            <a:endParaRPr lang="en-US" sz="2400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31–35 years: 457 sales</a:t>
            </a:r>
            <a:endParaRPr lang="en-US" sz="2400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These two groups combined represent </a:t>
            </a:r>
            <a:r>
              <a:rPr lang="en-US" sz="40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63%</a:t>
            </a:r>
            <a:r>
              <a:rPr lang="en-US" sz="40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of total sales.</a:t>
            </a:r>
            <a:endParaRPr lang="en-US" sz="2400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Very low sales from younger (21–25) and older (41+) age groups</a:t>
            </a:r>
            <a:endParaRPr lang="en-NG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E3FA9D6-3FAA-509D-15AE-1FB82D2986A3}"/>
              </a:ext>
            </a:extLst>
          </p:cNvPr>
          <p:cNvSpPr txBox="1">
            <a:spLocks/>
          </p:cNvSpPr>
          <p:nvPr/>
        </p:nvSpPr>
        <p:spPr>
          <a:xfrm>
            <a:off x="1523999" y="6277970"/>
            <a:ext cx="8119498" cy="65680"/>
          </a:xfrm>
          <a:prstGeom prst="rect">
            <a:avLst/>
          </a:prstGeom>
          <a:solidFill>
            <a:srgbClr val="002060"/>
          </a:solidFill>
          <a:ln w="38100">
            <a:noFill/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endParaRPr lang="en-US" sz="36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Graphic 15" descr="Car with solid fill">
            <a:extLst>
              <a:ext uri="{FF2B5EF4-FFF2-40B4-BE49-F238E27FC236}">
                <a16:creationId xmlns:a16="http://schemas.microsoft.com/office/drawing/2014/main" id="{5347627B-3C8B-F50A-27EF-22FE7F5C52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43497" y="5935354"/>
            <a:ext cx="1670312" cy="816591"/>
          </a:xfrm>
          <a:prstGeom prst="rect">
            <a:avLst/>
          </a:prstGeom>
        </p:spPr>
      </p:pic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38DF4DA1-8A18-5CB2-E3F5-A81E991762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9596993"/>
              </p:ext>
            </p:extLst>
          </p:nvPr>
        </p:nvGraphicFramePr>
        <p:xfrm>
          <a:off x="6488777" y="2107406"/>
          <a:ext cx="4537075" cy="2643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537138" imgH="2642583" progId="Excel.Sheet.12">
                  <p:embed/>
                </p:oleObj>
              </mc:Choice>
              <mc:Fallback>
                <p:oleObj name="Worksheet" r:id="rId4" imgW="4537138" imgH="264258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88777" y="2107406"/>
                        <a:ext cx="4537075" cy="2643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047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350C6C51-8290-1D71-BA78-2222AEB4E859}"/>
              </a:ext>
            </a:extLst>
          </p:cNvPr>
          <p:cNvSpPr txBox="1">
            <a:spLocks/>
          </p:cNvSpPr>
          <p:nvPr/>
        </p:nvSpPr>
        <p:spPr>
          <a:xfrm>
            <a:off x="1606333" y="498592"/>
            <a:ext cx="9175397" cy="68876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MODEL PERFORMANCE</a:t>
            </a:r>
            <a:endParaRPr lang="en-US" sz="44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5F9844-64A4-B445-2FA8-423AB637E823}"/>
              </a:ext>
            </a:extLst>
          </p:cNvPr>
          <p:cNvSpPr txBox="1"/>
          <p:nvPr/>
        </p:nvSpPr>
        <p:spPr>
          <a:xfrm>
            <a:off x="1606334" y="2052247"/>
            <a:ext cx="2603851" cy="236988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2060"/>
                </a:solidFill>
              </a:rPr>
              <a:t>Corolla</a:t>
            </a:r>
          </a:p>
          <a:p>
            <a:pPr algn="ctr"/>
            <a:endParaRPr lang="en-US" sz="4400" b="1" dirty="0">
              <a:solidFill>
                <a:srgbClr val="002060"/>
              </a:solidFill>
            </a:endParaRPr>
          </a:p>
          <a:p>
            <a:pPr algn="ctr"/>
            <a:r>
              <a:rPr lang="en-US" sz="6000" b="1" dirty="0">
                <a:solidFill>
                  <a:srgbClr val="002060"/>
                </a:solidFill>
              </a:rPr>
              <a:t>201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6E491A-6C7F-813F-F1D3-5894EFE85FE2}"/>
              </a:ext>
            </a:extLst>
          </p:cNvPr>
          <p:cNvSpPr txBox="1"/>
          <p:nvPr/>
        </p:nvSpPr>
        <p:spPr>
          <a:xfrm>
            <a:off x="7583604" y="4852116"/>
            <a:ext cx="3084394" cy="1785104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2060"/>
                </a:solidFill>
              </a:rPr>
              <a:t>Camry</a:t>
            </a:r>
          </a:p>
          <a:p>
            <a:pPr algn="ctr"/>
            <a:r>
              <a:rPr lang="en-US" sz="6600" b="1" dirty="0">
                <a:solidFill>
                  <a:srgbClr val="002060"/>
                </a:solidFill>
              </a:rPr>
              <a:t>152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05F661-8405-3163-5F35-9189D1AF1568}"/>
              </a:ext>
            </a:extLst>
          </p:cNvPr>
          <p:cNvSpPr txBox="1"/>
          <p:nvPr/>
        </p:nvSpPr>
        <p:spPr>
          <a:xfrm>
            <a:off x="4701799" y="2052247"/>
            <a:ext cx="2777174" cy="2339102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2060"/>
                </a:solidFill>
              </a:rPr>
              <a:t>Fiesta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sz="6600" b="1" dirty="0">
                <a:solidFill>
                  <a:srgbClr val="002060"/>
                </a:solidFill>
              </a:rPr>
              <a:t>200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02EF30-42DC-8D1C-30B7-94B6AE4C252E}"/>
              </a:ext>
            </a:extLst>
          </p:cNvPr>
          <p:cNvSpPr txBox="1"/>
          <p:nvPr/>
        </p:nvSpPr>
        <p:spPr>
          <a:xfrm>
            <a:off x="7801093" y="2052247"/>
            <a:ext cx="2777174" cy="2339102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2060"/>
                </a:solidFill>
              </a:rPr>
              <a:t>Civic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sz="6600" b="1" dirty="0">
                <a:solidFill>
                  <a:srgbClr val="002060"/>
                </a:solidFill>
              </a:rPr>
              <a:t>198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1E577E-C629-239B-C5A7-AD0434FB2F46}"/>
              </a:ext>
            </a:extLst>
          </p:cNvPr>
          <p:cNvSpPr txBox="1"/>
          <p:nvPr/>
        </p:nvSpPr>
        <p:spPr>
          <a:xfrm>
            <a:off x="1523998" y="1575894"/>
            <a:ext cx="4087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TOP SELLING MODELS</a:t>
            </a:r>
            <a:endParaRPr lang="en-NG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E5AA1C-B4DD-B67C-B2AD-3F70125C967D}"/>
              </a:ext>
            </a:extLst>
          </p:cNvPr>
          <p:cNvSpPr txBox="1"/>
          <p:nvPr/>
        </p:nvSpPr>
        <p:spPr>
          <a:xfrm>
            <a:off x="7385545" y="4462004"/>
            <a:ext cx="3282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/>
              <a:t>UNDERPERFORMING MODEL</a:t>
            </a:r>
            <a:endParaRPr lang="en-NG" sz="18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F7D113-C2FA-8D45-242D-BB44756EE5DD}"/>
              </a:ext>
            </a:extLst>
          </p:cNvPr>
          <p:cNvSpPr txBox="1"/>
          <p:nvPr/>
        </p:nvSpPr>
        <p:spPr>
          <a:xfrm>
            <a:off x="1713859" y="4482784"/>
            <a:ext cx="3282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MODEL CLOSE IN SALES</a:t>
            </a:r>
            <a:endParaRPr lang="en-NG" sz="18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EB56DB-EF63-C358-0029-04680EEF7930}"/>
              </a:ext>
            </a:extLst>
          </p:cNvPr>
          <p:cNvSpPr txBox="1"/>
          <p:nvPr/>
        </p:nvSpPr>
        <p:spPr>
          <a:xfrm>
            <a:off x="1606334" y="4912774"/>
            <a:ext cx="3661702" cy="1446550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err="1">
                <a:solidFill>
                  <a:srgbClr val="002060"/>
                </a:solidFill>
              </a:rPr>
              <a:t>Rougue</a:t>
            </a:r>
            <a:r>
              <a:rPr lang="en-US" sz="4400" b="1" dirty="0">
                <a:solidFill>
                  <a:srgbClr val="002060"/>
                </a:solidFill>
              </a:rPr>
              <a:t> &amp; Sonata </a:t>
            </a:r>
          </a:p>
        </p:txBody>
      </p:sp>
    </p:spTree>
    <p:extLst>
      <p:ext uri="{BB962C8B-B14F-4D97-AF65-F5344CB8AC3E}">
        <p14:creationId xmlns:p14="http://schemas.microsoft.com/office/powerpoint/2010/main" val="2895739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350C6C51-8290-1D71-BA78-2222AEB4E859}"/>
              </a:ext>
            </a:extLst>
          </p:cNvPr>
          <p:cNvSpPr txBox="1">
            <a:spLocks/>
          </p:cNvSpPr>
          <p:nvPr/>
        </p:nvSpPr>
        <p:spPr>
          <a:xfrm>
            <a:off x="1523997" y="576912"/>
            <a:ext cx="9789812" cy="69146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BRAND PERFORMANCE</a:t>
            </a:r>
            <a:endParaRPr lang="en-US" sz="44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5F9844-64A4-B445-2FA8-423AB637E823}"/>
              </a:ext>
            </a:extLst>
          </p:cNvPr>
          <p:cNvSpPr txBox="1"/>
          <p:nvPr/>
        </p:nvSpPr>
        <p:spPr>
          <a:xfrm>
            <a:off x="1606333" y="2052247"/>
            <a:ext cx="4005317" cy="236988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2060"/>
                </a:solidFill>
              </a:rPr>
              <a:t>FORD</a:t>
            </a:r>
          </a:p>
          <a:p>
            <a:pPr algn="ctr"/>
            <a:endParaRPr lang="en-US" sz="4400" b="1" dirty="0">
              <a:solidFill>
                <a:srgbClr val="002060"/>
              </a:solidFill>
            </a:endParaRPr>
          </a:p>
          <a:p>
            <a:pPr algn="ctr"/>
            <a:r>
              <a:rPr lang="en-US" sz="6000" b="1" dirty="0">
                <a:solidFill>
                  <a:srgbClr val="002060"/>
                </a:solidFill>
              </a:rPr>
              <a:t>368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6E491A-6C7F-813F-F1D3-5894EFE85FE2}"/>
              </a:ext>
            </a:extLst>
          </p:cNvPr>
          <p:cNvSpPr txBox="1"/>
          <p:nvPr/>
        </p:nvSpPr>
        <p:spPr>
          <a:xfrm>
            <a:off x="1617404" y="4912774"/>
            <a:ext cx="3994245" cy="1785104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2060"/>
                </a:solidFill>
              </a:rPr>
              <a:t>CHEVROLET</a:t>
            </a:r>
          </a:p>
          <a:p>
            <a:pPr algn="ctr"/>
            <a:r>
              <a:rPr lang="en-US" sz="6600" b="1" dirty="0">
                <a:solidFill>
                  <a:srgbClr val="002060"/>
                </a:solidFill>
              </a:rPr>
              <a:t>147</a:t>
            </a:r>
          </a:p>
        </p:txBody>
      </p:sp>
      <p:pic>
        <p:nvPicPr>
          <p:cNvPr id="14" name="Graphic 15" descr="Car with solid fill">
            <a:extLst>
              <a:ext uri="{FF2B5EF4-FFF2-40B4-BE49-F238E27FC236}">
                <a16:creationId xmlns:a16="http://schemas.microsoft.com/office/drawing/2014/main" id="{B800B55C-EB35-3BEC-B40D-E53CBA931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43497" y="5935354"/>
            <a:ext cx="1670312" cy="81659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05F661-8405-3163-5F35-9189D1AF1568}"/>
              </a:ext>
            </a:extLst>
          </p:cNvPr>
          <p:cNvSpPr txBox="1"/>
          <p:nvPr/>
        </p:nvSpPr>
        <p:spPr>
          <a:xfrm>
            <a:off x="6580352" y="2052247"/>
            <a:ext cx="4087646" cy="2369880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02060"/>
                </a:solidFill>
              </a:rPr>
              <a:t>TOYOTA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sz="6600" b="1" dirty="0">
                <a:solidFill>
                  <a:srgbClr val="002060"/>
                </a:solidFill>
              </a:rPr>
              <a:t>362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1E577E-C629-239B-C5A7-AD0434FB2F46}"/>
              </a:ext>
            </a:extLst>
          </p:cNvPr>
          <p:cNvSpPr txBox="1"/>
          <p:nvPr/>
        </p:nvSpPr>
        <p:spPr>
          <a:xfrm>
            <a:off x="1523998" y="1575894"/>
            <a:ext cx="4087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TOP SELLING BRANDS</a:t>
            </a:r>
            <a:endParaRPr lang="en-NG" b="1" dirty="0">
              <a:solidFill>
                <a:srgbClr val="00206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E5AA1C-B4DD-B67C-B2AD-3F70125C967D}"/>
              </a:ext>
            </a:extLst>
          </p:cNvPr>
          <p:cNvSpPr txBox="1"/>
          <p:nvPr/>
        </p:nvSpPr>
        <p:spPr>
          <a:xfrm>
            <a:off x="5757266" y="5561782"/>
            <a:ext cx="3886231" cy="3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- </a:t>
            </a:r>
            <a:r>
              <a:rPr lang="en-US" sz="18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lags significantly behind</a:t>
            </a:r>
            <a:endParaRPr lang="en-NG" sz="1800" b="1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752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92880-8FCE-6C97-8D3D-8CD920883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2547"/>
            <a:ext cx="10475609" cy="753990"/>
          </a:xfr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SALES BY </a:t>
            </a: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DAYS OF THE WEEK</a:t>
            </a:r>
            <a:endParaRPr lang="en-NG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C8D65-D103-139B-5ED6-D76A491732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Wednesday had the highest sales of </a:t>
            </a:r>
            <a:r>
              <a:rPr lang="en-US" sz="40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219</a:t>
            </a:r>
            <a:r>
              <a:rPr lang="en-US" sz="2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, possibly due to mid-week promotions.</a:t>
            </a:r>
            <a:endParaRPr lang="en-NG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Thursday had the lowest </a:t>
            </a:r>
            <a:r>
              <a:rPr lang="en-US" sz="40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207</a:t>
            </a:r>
            <a:r>
              <a:rPr lang="en-US" sz="2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, though all days were relatively balanced.</a:t>
            </a:r>
            <a:endParaRPr lang="en-NG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E3FA9D6-3FAA-509D-15AE-1FB82D2986A3}"/>
              </a:ext>
            </a:extLst>
          </p:cNvPr>
          <p:cNvSpPr txBox="1">
            <a:spLocks/>
          </p:cNvSpPr>
          <p:nvPr/>
        </p:nvSpPr>
        <p:spPr>
          <a:xfrm>
            <a:off x="1523999" y="6277970"/>
            <a:ext cx="8119498" cy="65680"/>
          </a:xfrm>
          <a:prstGeom prst="rect">
            <a:avLst/>
          </a:prstGeom>
          <a:solidFill>
            <a:srgbClr val="002060"/>
          </a:solidFill>
          <a:ln w="38100">
            <a:noFill/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endParaRPr lang="en-US" sz="36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Graphic 15" descr="Car with solid fill">
            <a:extLst>
              <a:ext uri="{FF2B5EF4-FFF2-40B4-BE49-F238E27FC236}">
                <a16:creationId xmlns:a16="http://schemas.microsoft.com/office/drawing/2014/main" id="{5347627B-3C8B-F50A-27EF-22FE7F5C52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43497" y="5935354"/>
            <a:ext cx="1670312" cy="816591"/>
          </a:xfrm>
          <a:prstGeom prst="rect">
            <a:avLst/>
          </a:prstGeom>
        </p:spPr>
      </p:pic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097E970C-5BEC-C822-7243-63FA410CE9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8008240"/>
              </p:ext>
            </p:extLst>
          </p:nvPr>
        </p:nvGraphicFramePr>
        <p:xfrm>
          <a:off x="6733872" y="2240377"/>
          <a:ext cx="4579937" cy="275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4579599" imgH="2751099" progId="Excel.Sheet.12">
                  <p:embed/>
                </p:oleObj>
              </mc:Choice>
              <mc:Fallback>
                <p:oleObj name="Worksheet" r:id="rId4" imgW="4579599" imgH="275109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733872" y="2240377"/>
                        <a:ext cx="4579937" cy="2751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79961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92880-8FCE-6C97-8D3D-8CD920883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0175"/>
            <a:ext cx="10465971" cy="756457"/>
          </a:xfrm>
          <a:solidFill>
            <a:srgbClr val="002060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SALES BY GENDER</a:t>
            </a:r>
            <a:endParaRPr lang="en-NG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C8D65-D103-139B-5ED6-D76A491732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36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Sales are almost evenly split with a slight lead in female purchases — </a:t>
            </a:r>
            <a:r>
              <a:rPr lang="en-US" sz="36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an opportunity to optimize gender-focused marketing.</a:t>
            </a:r>
            <a:endParaRPr lang="en-NG" sz="3600" dirty="0">
              <a:solidFill>
                <a:srgbClr val="C00000"/>
              </a:solidFill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E3FA9D6-3FAA-509D-15AE-1FB82D2986A3}"/>
              </a:ext>
            </a:extLst>
          </p:cNvPr>
          <p:cNvSpPr txBox="1">
            <a:spLocks/>
          </p:cNvSpPr>
          <p:nvPr/>
        </p:nvSpPr>
        <p:spPr>
          <a:xfrm>
            <a:off x="1523999" y="6277970"/>
            <a:ext cx="8119498" cy="65680"/>
          </a:xfrm>
          <a:prstGeom prst="rect">
            <a:avLst/>
          </a:prstGeom>
          <a:solidFill>
            <a:srgbClr val="002060"/>
          </a:solidFill>
          <a:ln w="38100">
            <a:noFill/>
          </a:ln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endParaRPr lang="en-US" sz="3600" b="1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Graphic 15" descr="Car with solid fill">
            <a:extLst>
              <a:ext uri="{FF2B5EF4-FFF2-40B4-BE49-F238E27FC236}">
                <a16:creationId xmlns:a16="http://schemas.microsoft.com/office/drawing/2014/main" id="{5347627B-3C8B-F50A-27EF-22FE7F5C52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43497" y="5935354"/>
            <a:ext cx="1670312" cy="816591"/>
          </a:xfrm>
          <a:prstGeom prst="rect">
            <a:avLst/>
          </a:prstGeom>
        </p:spPr>
      </p:pic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C5C11E96-C1DF-42B3-936C-EF4C1C2714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915371"/>
              </p:ext>
            </p:extLst>
          </p:nvPr>
        </p:nvGraphicFramePr>
        <p:xfrm>
          <a:off x="7694990" y="3936439"/>
          <a:ext cx="2236338" cy="16449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82FD70E2-ED9B-436C-932C-3B1E70DBCC2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3910227"/>
              </p:ext>
            </p:extLst>
          </p:nvPr>
        </p:nvGraphicFramePr>
        <p:xfrm>
          <a:off x="9168953" y="3855862"/>
          <a:ext cx="2615293" cy="17255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2FD1A776-2387-3AB3-609F-D0CEBABB335E}"/>
              </a:ext>
            </a:extLst>
          </p:cNvPr>
          <p:cNvSpPr/>
          <p:nvPr/>
        </p:nvSpPr>
        <p:spPr>
          <a:xfrm>
            <a:off x="8457364" y="4569407"/>
            <a:ext cx="711589" cy="3789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ACA5759-B62A-4458-9D53-1F075DCCE541}" type="TxLink">
              <a:rPr lang="en-US" sz="2000" b="1" i="0" u="none" strike="noStrike">
                <a:solidFill>
                  <a:sysClr val="windowText" lastClr="000000"/>
                </a:solidFill>
                <a:latin typeface="Aptos Narrow"/>
              </a:rPr>
              <a:pPr algn="l"/>
              <a:t>766</a:t>
            </a:fld>
            <a:endParaRPr lang="en-NG" sz="2000" b="1" dirty="0">
              <a:solidFill>
                <a:sysClr val="windowText" lastClr="0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A08B34-C151-86BA-C0F8-1A6F46E905BB}"/>
              </a:ext>
            </a:extLst>
          </p:cNvPr>
          <p:cNvSpPr/>
          <p:nvPr/>
        </p:nvSpPr>
        <p:spPr>
          <a:xfrm>
            <a:off x="10271821" y="4559904"/>
            <a:ext cx="841849" cy="3174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6F329266-B40B-4267-842D-7B0804B20E5E}" type="TxLink">
              <a:rPr lang="en-US" sz="2000" b="1" i="0" u="none" strike="noStrike">
                <a:solidFill>
                  <a:sysClr val="windowText" lastClr="000000"/>
                </a:solidFill>
                <a:latin typeface="Aptos Narrow"/>
              </a:rPr>
              <a:pPr algn="l"/>
              <a:t>725</a:t>
            </a:fld>
            <a:endParaRPr lang="en-NG" sz="2000" b="1" dirty="0">
              <a:solidFill>
                <a:sysClr val="windowText" lastClr="000000"/>
              </a:solidFill>
            </a:endParaRPr>
          </a:p>
        </p:txBody>
      </p:sp>
      <p:pic>
        <p:nvPicPr>
          <p:cNvPr id="16" name="Graphic 110" descr="Female Profile with solid fill">
            <a:extLst>
              <a:ext uri="{FF2B5EF4-FFF2-40B4-BE49-F238E27FC236}">
                <a16:creationId xmlns:a16="http://schemas.microsoft.com/office/drawing/2014/main" id="{3A611AF0-D00F-0963-66B8-BAEF7BFE29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79309" y="2082372"/>
            <a:ext cx="1871814" cy="1854066"/>
          </a:xfrm>
          <a:prstGeom prst="rect">
            <a:avLst/>
          </a:prstGeom>
        </p:spPr>
      </p:pic>
      <p:pic>
        <p:nvPicPr>
          <p:cNvPr id="17" name="Graphic 112" descr="Male profile with solid fill">
            <a:extLst>
              <a:ext uri="{FF2B5EF4-FFF2-40B4-BE49-F238E27FC236}">
                <a16:creationId xmlns:a16="http://schemas.microsoft.com/office/drawing/2014/main" id="{3CB6E017-7818-287F-2887-8896883586D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43496" y="2082371"/>
            <a:ext cx="1660675" cy="1918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5926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350C6C51-8290-1D71-BA78-2222AEB4E859}"/>
              </a:ext>
            </a:extLst>
          </p:cNvPr>
          <p:cNvSpPr txBox="1">
            <a:spLocks/>
          </p:cNvSpPr>
          <p:nvPr/>
        </p:nvSpPr>
        <p:spPr>
          <a:xfrm>
            <a:off x="1523996" y="514351"/>
            <a:ext cx="9789813" cy="816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RECOMMENDATIONS</a:t>
            </a:r>
            <a:endParaRPr lang="en-US" sz="44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5F9844-64A4-B445-2FA8-423AB637E823}"/>
              </a:ext>
            </a:extLst>
          </p:cNvPr>
          <p:cNvSpPr txBox="1"/>
          <p:nvPr/>
        </p:nvSpPr>
        <p:spPr>
          <a:xfrm>
            <a:off x="1523996" y="2551136"/>
            <a:ext cx="4098880" cy="3792513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lang="en-US" sz="24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EKITI &amp; ONDO </a:t>
            </a:r>
            <a:r>
              <a:rPr lang="en-US" sz="2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need urgent attention</a:t>
            </a:r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Investigate staffing, inventory, local demand, and visibility.</a:t>
            </a:r>
          </a:p>
          <a:p>
            <a:pPr marL="342900" indent="-342900" algn="l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Consider targeted marketing campaigns or partnerships in these regions.</a:t>
            </a:r>
            <a:endParaRPr lang="en-NG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4" name="Graphic 15" descr="Car with solid fill">
            <a:extLst>
              <a:ext uri="{FF2B5EF4-FFF2-40B4-BE49-F238E27FC236}">
                <a16:creationId xmlns:a16="http://schemas.microsoft.com/office/drawing/2014/main" id="{B800B55C-EB35-3BEC-B40D-E53CBA931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43497" y="5935354"/>
            <a:ext cx="1670312" cy="8165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1E577E-C629-239B-C5A7-AD0434FB2F46}"/>
              </a:ext>
            </a:extLst>
          </p:cNvPr>
          <p:cNvSpPr txBox="1"/>
          <p:nvPr/>
        </p:nvSpPr>
        <p:spPr>
          <a:xfrm>
            <a:off x="1523998" y="1575894"/>
            <a:ext cx="4317244" cy="916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REVIVE LOW-PERFORMING BRANCHES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F32677-9FB7-C651-F65D-387633C0C32F}"/>
              </a:ext>
            </a:extLst>
          </p:cNvPr>
          <p:cNvSpPr txBox="1"/>
          <p:nvPr/>
        </p:nvSpPr>
        <p:spPr>
          <a:xfrm>
            <a:off x="6480410" y="1575894"/>
            <a:ext cx="4317244" cy="492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TARGET KEY DEMOGRAPHICS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4D24D-8294-300F-A7CC-727C78B05ADE}"/>
              </a:ext>
            </a:extLst>
          </p:cNvPr>
          <p:cNvSpPr txBox="1"/>
          <p:nvPr/>
        </p:nvSpPr>
        <p:spPr>
          <a:xfrm>
            <a:off x="6569124" y="2227134"/>
            <a:ext cx="4098880" cy="3168753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Prioritize </a:t>
            </a:r>
            <a:r>
              <a:rPr lang="en-US" sz="24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26–35 age group </a:t>
            </a:r>
            <a:r>
              <a:rPr lang="en-US" sz="2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in marketing as they form the bulk of buyers.</a:t>
            </a:r>
            <a:endParaRPr lang="en-US" sz="2400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Develop packages or financing offers appealing to first-time car buyers or young professionals.</a:t>
            </a:r>
            <a:endParaRPr lang="en-NG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168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D5F9844-64A4-B445-2FA8-423AB637E823}"/>
              </a:ext>
            </a:extLst>
          </p:cNvPr>
          <p:cNvSpPr txBox="1"/>
          <p:nvPr/>
        </p:nvSpPr>
        <p:spPr>
          <a:xfrm>
            <a:off x="1523997" y="2115320"/>
            <a:ext cx="4208063" cy="2811522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Ensure </a:t>
            </a:r>
            <a:r>
              <a:rPr lang="en-US" sz="24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Corolla, Fiesta, and Civic </a:t>
            </a:r>
            <a:r>
              <a:rPr lang="en-US" sz="2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are readily available.</a:t>
            </a:r>
            <a:endParaRPr lang="en-US" sz="2400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Consider reducing inventory of underperformers like Camry unless region-specific data suggests otherwise.</a:t>
            </a:r>
            <a:endParaRPr lang="en-NG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1E577E-C629-239B-C5A7-AD0434FB2F46}"/>
              </a:ext>
            </a:extLst>
          </p:cNvPr>
          <p:cNvSpPr txBox="1"/>
          <p:nvPr/>
        </p:nvSpPr>
        <p:spPr>
          <a:xfrm>
            <a:off x="1523996" y="1595098"/>
            <a:ext cx="4572002" cy="492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STOCK HIGH-DEMAND MODELS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F32677-9FB7-C651-F65D-387633C0C32F}"/>
              </a:ext>
            </a:extLst>
          </p:cNvPr>
          <p:cNvSpPr txBox="1"/>
          <p:nvPr/>
        </p:nvSpPr>
        <p:spPr>
          <a:xfrm>
            <a:off x="6225650" y="1595943"/>
            <a:ext cx="4317244" cy="492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CAPITALIZE ON SALES TRENDS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64D24D-8294-300F-A7CC-727C78B05ADE}"/>
              </a:ext>
            </a:extLst>
          </p:cNvPr>
          <p:cNvSpPr txBox="1"/>
          <p:nvPr/>
        </p:nvSpPr>
        <p:spPr>
          <a:xfrm>
            <a:off x="6225650" y="2115361"/>
            <a:ext cx="4774446" cy="2547364"/>
          </a:xfrm>
          <a:prstGeom prst="rect">
            <a:avLst/>
          </a:prstGeom>
          <a:solidFill>
            <a:schemeClr val="bg1"/>
          </a:solidFill>
          <a:ln w="381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Boost inventory and marketing before </a:t>
            </a:r>
            <a:r>
              <a:rPr lang="en-US" sz="24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peak months (Sep–Nov).</a:t>
            </a:r>
            <a:endParaRPr lang="en-NG" sz="2400" b="1" dirty="0">
              <a:solidFill>
                <a:srgbClr val="C00000"/>
              </a:solidFill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Investigate and address December drop-off — This could be due to supply chain issues, holidays, or reduced demand.</a:t>
            </a:r>
            <a:endParaRPr lang="en-NG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F50107-7B6E-C476-6B8F-9C206AF2DC2D}"/>
              </a:ext>
            </a:extLst>
          </p:cNvPr>
          <p:cNvSpPr txBox="1"/>
          <p:nvPr/>
        </p:nvSpPr>
        <p:spPr>
          <a:xfrm>
            <a:off x="920933" y="5172903"/>
            <a:ext cx="10609433" cy="1365758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Strengthen partnerships with </a:t>
            </a:r>
            <a:r>
              <a:rPr lang="en-US" sz="22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Ford and Toyota</a:t>
            </a:r>
            <a:r>
              <a:rPr lang="en-US" sz="22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, as they are clearly customer favorites.</a:t>
            </a:r>
            <a:endParaRPr lang="en-US" sz="2200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22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Assess reasons for </a:t>
            </a:r>
            <a:r>
              <a:rPr lang="en-US" sz="2200" b="1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Chevrolet's poor performance </a:t>
            </a:r>
            <a:r>
              <a:rPr lang="en-US" sz="22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— consider rebranding or removing certain models.</a:t>
            </a:r>
            <a:endParaRPr lang="en-NG" sz="22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92B872-B54D-7140-1A84-C19DEA4C0C81}"/>
              </a:ext>
            </a:extLst>
          </p:cNvPr>
          <p:cNvSpPr txBox="1"/>
          <p:nvPr/>
        </p:nvSpPr>
        <p:spPr>
          <a:xfrm>
            <a:off x="6225650" y="4680781"/>
            <a:ext cx="3062221" cy="4921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BRAND STRATEGY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B2CA05A-2CAB-B05C-85A1-B4B9961C7DE3}"/>
              </a:ext>
            </a:extLst>
          </p:cNvPr>
          <p:cNvSpPr txBox="1">
            <a:spLocks/>
          </p:cNvSpPr>
          <p:nvPr/>
        </p:nvSpPr>
        <p:spPr>
          <a:xfrm>
            <a:off x="1523996" y="514351"/>
            <a:ext cx="9789813" cy="81659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RECOMMENDATIONS</a:t>
            </a:r>
            <a:endParaRPr lang="en-US" sz="44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103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350C6C51-8290-1D71-BA78-2222AEB4E859}"/>
              </a:ext>
            </a:extLst>
          </p:cNvPr>
          <p:cNvSpPr txBox="1">
            <a:spLocks/>
          </p:cNvSpPr>
          <p:nvPr/>
        </p:nvSpPr>
        <p:spPr>
          <a:xfrm>
            <a:off x="1524000" y="504968"/>
            <a:ext cx="9144000" cy="6687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sz="4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CONCLUSIONS</a:t>
            </a:r>
            <a:endParaRPr lang="en-US" sz="44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5F9844-64A4-B445-2FA8-423AB637E823}"/>
              </a:ext>
            </a:extLst>
          </p:cNvPr>
          <p:cNvSpPr txBox="1"/>
          <p:nvPr/>
        </p:nvSpPr>
        <p:spPr>
          <a:xfrm>
            <a:off x="1524000" y="1440505"/>
            <a:ext cx="4685731" cy="5151364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GB" sz="22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The 2020 Sales Performance Dashboard for </a:t>
            </a:r>
            <a:r>
              <a:rPr lang="en-GB" sz="2200" b="1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AutoCar</a:t>
            </a:r>
            <a:r>
              <a:rPr lang="en-GB" sz="22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LTD </a:t>
            </a:r>
            <a:r>
              <a:rPr lang="en-GB" sz="22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reveals strong overall performance with </a:t>
            </a:r>
            <a:r>
              <a:rPr lang="en-GB" sz="22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1,491</a:t>
            </a:r>
            <a:r>
              <a:rPr lang="en-GB" sz="22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total vehicle sales, primarily driven by younger customers aged </a:t>
            </a:r>
            <a:r>
              <a:rPr lang="en-GB" sz="22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26–35</a:t>
            </a:r>
            <a:r>
              <a:rPr lang="en-GB" sz="22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, top-performing branches in </a:t>
            </a:r>
            <a:r>
              <a:rPr lang="en-GB" sz="22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Lagos, Osun, and Ogun</a:t>
            </a:r>
            <a:r>
              <a:rPr lang="en-GB" sz="22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, and </a:t>
            </a:r>
            <a:r>
              <a:rPr lang="en-GB" sz="22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high demand for Ford and Toyota brands</a:t>
            </a:r>
            <a:r>
              <a:rPr lang="en-GB" sz="22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. Sales peaked in </a:t>
            </a:r>
            <a:r>
              <a:rPr lang="en-GB" sz="22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November</a:t>
            </a:r>
            <a:r>
              <a:rPr lang="en-GB" sz="22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and were strongest on </a:t>
            </a:r>
            <a:r>
              <a:rPr lang="en-GB" sz="22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Wednesdays</a:t>
            </a:r>
            <a:r>
              <a:rPr lang="en-GB" sz="22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GB" sz="22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while Ekiti branch, December sales, and Chevrolet brand underperformed and need focused attention.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75BC67-226B-A510-D047-413E51DBE72B}"/>
              </a:ext>
            </a:extLst>
          </p:cNvPr>
          <p:cNvSpPr txBox="1"/>
          <p:nvPr/>
        </p:nvSpPr>
        <p:spPr>
          <a:xfrm>
            <a:off x="6305267" y="1440505"/>
            <a:ext cx="4362733" cy="4667945"/>
          </a:xfrm>
          <a:prstGeom prst="rect">
            <a:avLst/>
          </a:prstGeom>
          <a:solidFill>
            <a:schemeClr val="bg1"/>
          </a:solidFill>
          <a:ln w="38100">
            <a:noFill/>
          </a:ln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GB" sz="24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To sustain and grow performance, </a:t>
            </a:r>
            <a:r>
              <a:rPr lang="en-GB" sz="2400" b="1" dirty="0" err="1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AutoCar</a:t>
            </a:r>
            <a:r>
              <a:rPr lang="en-GB" sz="24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LTD should:</a:t>
            </a:r>
            <a:endParaRPr lang="en-NG" sz="2400" b="1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Strengthen operations in underperforming regions</a:t>
            </a:r>
            <a:endParaRPr lang="en-NG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Target marketing towards its core age demographic (26–35)</a:t>
            </a:r>
            <a:endParaRPr lang="en-NG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Leverage peak months and top sales days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§"/>
            </a:pPr>
            <a:r>
              <a:rPr lang="en-GB" sz="24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Focus inventory and brand strategy on best-sellers.</a:t>
            </a:r>
            <a:endParaRPr lang="en-NG" sz="24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292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545</Words>
  <Application>Microsoft Office PowerPoint</Application>
  <PresentationFormat>Widescreen</PresentationFormat>
  <Paragraphs>119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Aptos Narrow</vt:lpstr>
      <vt:lpstr>Arial</vt:lpstr>
      <vt:lpstr>Calibri</vt:lpstr>
      <vt:lpstr>Wingdings</vt:lpstr>
      <vt:lpstr>Office Theme</vt:lpstr>
      <vt:lpstr>Worksheet</vt:lpstr>
      <vt:lpstr>AutoCar LTD</vt:lpstr>
      <vt:lpstr>PowerPoint Presentation</vt:lpstr>
      <vt:lpstr>PowerPoint Presentation</vt:lpstr>
      <vt:lpstr>PowerPoint Presentation</vt:lpstr>
      <vt:lpstr>INSIGHTS</vt:lpstr>
      <vt:lpstr>PowerPoint Presentation</vt:lpstr>
      <vt:lpstr>SALES BY AGE GROUP</vt:lpstr>
      <vt:lpstr>PowerPoint Presentation</vt:lpstr>
      <vt:lpstr>PowerPoint Presentation</vt:lpstr>
      <vt:lpstr>SALES BY DAYS OF THE WEEK</vt:lpstr>
      <vt:lpstr>SALES BY GENDER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6</cp:revision>
  <dcterms:created xsi:type="dcterms:W3CDTF">2025-06-10T14:11:49Z</dcterms:created>
  <dcterms:modified xsi:type="dcterms:W3CDTF">2025-06-14T11:59:30Z</dcterms:modified>
</cp:coreProperties>
</file>